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02" r:id="rId3"/>
    <p:sldId id="303" r:id="rId4"/>
    <p:sldId id="304" r:id="rId5"/>
    <p:sldId id="305" r:id="rId6"/>
    <p:sldId id="306" r:id="rId7"/>
    <p:sldId id="257" r:id="rId8"/>
    <p:sldId id="307" r:id="rId9"/>
    <p:sldId id="295" r:id="rId10"/>
    <p:sldId id="272" r:id="rId11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平均數檢定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(ANOVA)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變異數分析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個以上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2)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獨立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母群體的</a:t>
                </a:r>
                <a:r>
                  <a:rPr lang="zh-TW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平均值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檢定。</a:t>
                </a: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112</a:t>
                </a:r>
                <a:r>
                  <a:rPr lang="zh-TW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113</a:t>
                </a:r>
                <a:r>
                  <a:rPr lang="zh-TW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114</a:t>
                </a:r>
                <a:r>
                  <a:rPr lang="zh-TW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116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的平均睡眠時間是否相同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？</a:t>
                </a: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全台灣各縣巿的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20-30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歲成年男性的平均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BMI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是否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不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同？</a:t>
                </a:r>
                <a:endParaRPr lang="en-US" altLang="zh-TW" sz="32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藥</a:t>
                </a:r>
                <a:r>
                  <a:rPr lang="zh-TW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藥</a:t>
                </a:r>
                <a:r>
                  <a:rPr lang="zh-TW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zh-TW" altLang="en-US" sz="32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藥，何者能有效地降低血壓？</a:t>
                </a:r>
                <a:endParaRPr lang="zh-TW" altLang="en-US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內容版面配置區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35" y="4268397"/>
            <a:ext cx="5537886" cy="190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2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虛無假設</a:t>
            </a:r>
            <a:r>
              <a:rPr lang="zh-TW" altLang="en-US" dirty="0" smtClean="0">
                <a:ea typeface="標楷體" panose="03000509000000000000" pitchFamily="65" charset="-120"/>
              </a:rPr>
              <a:t>與對立假設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若有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組樣本，要檢定其母群體期望值是否不同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虛無假設：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組母群體的期望值皆相同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3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=…=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對立假設：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k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組母群體的期望值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皆不同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 </a:t>
                </a:r>
                <a:r>
                  <a:rPr lang="en-US" altLang="zh-TW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組母群體的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期望值不完全相同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至少有一組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存在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7" name="內容版面配置區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109" y="3112854"/>
            <a:ext cx="4132280" cy="2881031"/>
          </a:xfrm>
          <a:prstGeom prst="rect">
            <a:avLst/>
          </a:prstGeom>
        </p:spPr>
      </p:pic>
      <p:sp>
        <p:nvSpPr>
          <p:cNvPr id="8" name="乘號 7"/>
          <p:cNvSpPr/>
          <p:nvPr/>
        </p:nvSpPr>
        <p:spPr>
          <a:xfrm>
            <a:off x="6738552" y="3047999"/>
            <a:ext cx="691978" cy="782595"/>
          </a:xfrm>
          <a:prstGeom prst="mathMultiply">
            <a:avLst>
              <a:gd name="adj1" fmla="val 1442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2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為什麼不能以兩兩比較替代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若有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三組，分別進行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三個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檢定，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=0.05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，則犯錯機率則是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三個檢定至少有一犯錯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1 – (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三個檢定皆不犯錯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US" altLang="zh-TW" b="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zh-TW" alt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1−0.05</m:t>
                            </m:r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=0.143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因此，若用兩兩比較的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檢定來取代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ANOVA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，進行了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次檢定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則型一誤差會膨脹成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12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變異數分析原理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總變異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等於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組間變異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和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組內變異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。組間變異即不同組別間的差異，組內變異即各組內部的差異。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如果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組間變異大於組內變異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，我們就說各組間存在差異。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變異數分析的統計檢定就是看組間變異和組內變異的比例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。透過分解平方和，來判定組間變異是否大於組內變異。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281" y="4302031"/>
            <a:ext cx="5420885" cy="232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5579076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血液科收了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41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sickle cell disease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的病人，分為三種類型，想知道三類病人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血紅素濃度是否有差別？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Hb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for ANOVA.csv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261" y="1690688"/>
            <a:ext cx="3981873" cy="501641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185" y="3729037"/>
            <a:ext cx="43053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5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aov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53849" y="1037492"/>
                <a:ext cx="4907719" cy="496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三類病人的血紅素濃度是否有差別？</a:t>
                </a:r>
              </a:p>
              <a:p>
                <a:pPr>
                  <a:lnSpc>
                    <a:spcPct val="110000"/>
                  </a:lnSpc>
                </a:pP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分別為</a:t>
                </a:r>
                <a:r>
                  <a:rPr lang="en-US" altLang="zh-TW" sz="2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Hb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SC, </a:t>
                </a:r>
                <a:r>
                  <a:rPr lang="en-US" altLang="zh-TW" sz="24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Hb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S/b, 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Hb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SS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三類病人的血紅素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濃度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i="1" dirty="0">
                  <a:solidFill>
                    <a:srgbClr val="0070C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0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: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3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𝑣𝑠</m:t>
                      </m:r>
                    </m:oMath>
                  </m:oMathPara>
                </a14:m>
                <a:endParaRPr lang="en-US" altLang="zh-TW" sz="2400" i="1" dirty="0" smtClean="0">
                  <a:solidFill>
                    <a:srgbClr val="0070C0"/>
                  </a:solidFill>
                  <a:latin typeface="Cambria Math" panose="02040503050406030204" pitchFamily="18" charset="0"/>
                  <a:ea typeface="標楷體" panose="03000509000000000000" pitchFamily="65" charset="-12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: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𝑎𝑡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𝑙𝑒𝑎𝑠𝑡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𝑜𝑛𝑒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𝑖</m:t>
                          </m:r>
                        </m:sub>
                      </m:sSub>
                      <m:r>
                        <a:rPr lang="zh-TW" altLang="en-US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≠</m:t>
                      </m:r>
                      <m:sSub>
                        <m:sSubPr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𝑗</m:t>
                          </m:r>
                        </m:sub>
                      </m:sSub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𝑓𝑜𝑟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𝑖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,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𝑗</m:t>
                      </m:r>
                      <m:r>
                        <a:rPr lang="en-US" altLang="zh-TW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1,2,3</m:t>
                          </m:r>
                        </m:e>
                      </m:d>
                    </m:oMath>
                  </m:oMathPara>
                </a14:m>
                <a:endParaRPr lang="en-US" altLang="zh-TW" sz="2400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結論：在顯著水準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0.05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下，拒絕虛無假設，至少有一類病人的血紅素濃度與其他類病人不同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9" y="1037492"/>
                <a:ext cx="4907719" cy="4963282"/>
              </a:xfrm>
              <a:prstGeom prst="rect">
                <a:avLst/>
              </a:prstGeom>
              <a:blipFill>
                <a:blip r:embed="rId2"/>
                <a:stretch>
                  <a:fillRect l="-1988" t="-983" r="-4969"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68" y="1037492"/>
            <a:ext cx="6913542" cy="5318857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6638192" y="3519133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組間變異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25861" y="3519133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組內變異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0392507" y="5280526"/>
            <a:ext cx="1799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415246" y="2576614"/>
            <a:ext cx="241220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aov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y~x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data=)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7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953" y="1568697"/>
            <a:ext cx="9553575" cy="173355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761359"/>
              </p:ext>
            </p:extLst>
          </p:nvPr>
        </p:nvGraphicFramePr>
        <p:xfrm>
          <a:off x="1308953" y="3560885"/>
          <a:ext cx="9293466" cy="2250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8165">
                  <a:extLst>
                    <a:ext uri="{9D8B030D-6E8A-4147-A177-3AD203B41FA5}">
                      <a16:colId xmlns:a16="http://schemas.microsoft.com/office/drawing/2014/main" val="2219677180"/>
                    </a:ext>
                  </a:extLst>
                </a:gridCol>
                <a:gridCol w="1548165">
                  <a:extLst>
                    <a:ext uri="{9D8B030D-6E8A-4147-A177-3AD203B41FA5}">
                      <a16:colId xmlns:a16="http://schemas.microsoft.com/office/drawing/2014/main" val="3356124466"/>
                    </a:ext>
                  </a:extLst>
                </a:gridCol>
                <a:gridCol w="1549284">
                  <a:extLst>
                    <a:ext uri="{9D8B030D-6E8A-4147-A177-3AD203B41FA5}">
                      <a16:colId xmlns:a16="http://schemas.microsoft.com/office/drawing/2014/main" val="2841236255"/>
                    </a:ext>
                  </a:extLst>
                </a:gridCol>
                <a:gridCol w="1549284">
                  <a:extLst>
                    <a:ext uri="{9D8B030D-6E8A-4147-A177-3AD203B41FA5}">
                      <a16:colId xmlns:a16="http://schemas.microsoft.com/office/drawing/2014/main" val="1910131503"/>
                    </a:ext>
                  </a:extLst>
                </a:gridCol>
                <a:gridCol w="1549284">
                  <a:extLst>
                    <a:ext uri="{9D8B030D-6E8A-4147-A177-3AD203B41FA5}">
                      <a16:colId xmlns:a16="http://schemas.microsoft.com/office/drawing/2014/main" val="984082767"/>
                    </a:ext>
                  </a:extLst>
                </a:gridCol>
                <a:gridCol w="1549284">
                  <a:extLst>
                    <a:ext uri="{9D8B030D-6E8A-4147-A177-3AD203B41FA5}">
                      <a16:colId xmlns:a16="http://schemas.microsoft.com/office/drawing/2014/main" val="61831171"/>
                    </a:ext>
                  </a:extLst>
                </a:gridCol>
              </a:tblGrid>
              <a:tr h="562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變異來源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自由度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平方和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均方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Prob &gt; F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8426824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組間變異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99.89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49.94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2.28e-11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8094642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組內變異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38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37.96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1.00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7650922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HK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總變異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6170143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2154113" y="5998109"/>
            <a:ext cx="8053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服從</a:t>
            </a:r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分布</a:t>
            </a:r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8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2,38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，依次為組間和組內變異的自由度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7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多重檢定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68" y="2543942"/>
            <a:ext cx="7486532" cy="2708398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04447" y="1185607"/>
            <a:ext cx="8697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又稱事後檢定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(post-hoc 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結果有顯著差異時，檢定是哪兩個樣本有差異。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最常用的方法是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Bonferroni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correction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method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272664" y="5410347"/>
            <a:ext cx="5932539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airwise.t.test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(y, x,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p.adj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=“post-hoc test”)</a:t>
            </a:r>
          </a:p>
          <a:p>
            <a:pPr>
              <a:lnSpc>
                <a:spcPct val="110000"/>
              </a:lnSpc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y~x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的結果進行多重檢定，有其他多重檢定的方法可以用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pairwise.t.test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查詢函數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085741" y="3892386"/>
            <a:ext cx="4167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此處呈現已經過校正的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值，可直接與顯著水準比較。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5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為兩組以上獨立樣本的平均數檢定。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獨立樣本皆需服從常態分布。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不能以兩兩比較的結果取代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多重檢定最常使用的方法為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Bonferroni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correction method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，但此方法相對保守不容易有顯著結果。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基因資料常用的多重檢定方法為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FDR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528</Words>
  <Application>Microsoft Office PowerPoint</Application>
  <PresentationFormat>寬螢幕</PresentationFormat>
  <Paragraphs>92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平均數檢定(ANOVA)</vt:lpstr>
      <vt:lpstr>變異數分析</vt:lpstr>
      <vt:lpstr>虛無假設與對立假設</vt:lpstr>
      <vt:lpstr>為什麼不能以兩兩比較替代ANOVA？</vt:lpstr>
      <vt:lpstr>變異數分析原理</vt:lpstr>
      <vt:lpstr>ANOVA</vt:lpstr>
      <vt:lpstr>aov</vt:lpstr>
      <vt:lpstr>ANOVA表</vt:lpstr>
      <vt:lpstr>多重檢定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106</cp:revision>
  <cp:lastPrinted>2019-01-18T15:34:11Z</cp:lastPrinted>
  <dcterms:created xsi:type="dcterms:W3CDTF">2019-01-18T04:58:35Z</dcterms:created>
  <dcterms:modified xsi:type="dcterms:W3CDTF">2019-01-25T08:48:20Z</dcterms:modified>
</cp:coreProperties>
</file>