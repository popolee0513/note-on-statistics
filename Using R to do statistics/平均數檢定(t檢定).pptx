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56" r:id="rId2"/>
    <p:sldId id="286" r:id="rId3"/>
    <p:sldId id="287" r:id="rId4"/>
    <p:sldId id="288" r:id="rId5"/>
    <p:sldId id="289" r:id="rId6"/>
    <p:sldId id="290" r:id="rId7"/>
    <p:sldId id="291" r:id="rId8"/>
    <p:sldId id="293" r:id="rId9"/>
    <p:sldId id="257" r:id="rId10"/>
    <p:sldId id="295" r:id="rId11"/>
    <p:sldId id="276" r:id="rId12"/>
    <p:sldId id="294" r:id="rId13"/>
    <p:sldId id="296" r:id="rId14"/>
    <p:sldId id="297" r:id="rId15"/>
    <p:sldId id="280" r:id="rId16"/>
    <p:sldId id="298" r:id="rId17"/>
    <p:sldId id="299" r:id="rId18"/>
    <p:sldId id="300" r:id="rId19"/>
    <p:sldId id="301" r:id="rId20"/>
    <p:sldId id="272" r:id="rId21"/>
  </p:sldIdLst>
  <p:sldSz cx="12192000" cy="6858000"/>
  <p:notesSz cx="7099300" cy="10234613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7" d="100"/>
          <a:sy n="87" d="100"/>
        </p:scale>
        <p:origin x="52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363" cy="513508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>
              <a:defRPr sz="13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4021294" y="0"/>
            <a:ext cx="3076363" cy="513508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>
              <a:defRPr sz="1300"/>
            </a:lvl1pPr>
          </a:lstStyle>
          <a:p>
            <a:fld id="{BE16FAF7-C6B4-43E3-9AF9-B2BA7077D401}" type="datetimeFigureOut">
              <a:rPr lang="zh-TW" altLang="en-US" smtClean="0"/>
              <a:t>2019/1/25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479425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48" tIns="49524" rIns="99048" bIns="49524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709930" y="4925407"/>
            <a:ext cx="5679440" cy="4029879"/>
          </a:xfrm>
          <a:prstGeom prst="rect">
            <a:avLst/>
          </a:prstGeom>
        </p:spPr>
        <p:txBody>
          <a:bodyPr vert="horz" lIns="99048" tIns="49524" rIns="99048" bIns="49524" rtlCol="0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9721107"/>
            <a:ext cx="3076363" cy="513507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>
              <a:defRPr sz="13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4021294" y="9721107"/>
            <a:ext cx="3076363" cy="513507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r">
              <a:defRPr sz="1300"/>
            </a:lvl1pPr>
          </a:lstStyle>
          <a:p>
            <a:fld id="{7F7A3A3C-4092-4F87-AAC5-8AE39572560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841849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36CC44-DD20-47AC-A2F1-CF7035690CA6}" type="datetime1">
              <a:rPr lang="zh-TW" altLang="en-US" smtClean="0"/>
              <a:t>2019/1/25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5A20A-F7E8-4753-AF4B-C3CF6A92C88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183655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A54451-903D-4023-84AA-8A32C6EBF50B}" type="datetime1">
              <a:rPr lang="zh-TW" altLang="en-US" smtClean="0"/>
              <a:t>2019/1/25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5A20A-F7E8-4753-AF4B-C3CF6A92C88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570078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F9F007-A956-42E8-99F6-B95595EAD420}" type="datetime1">
              <a:rPr lang="zh-TW" altLang="en-US" smtClean="0"/>
              <a:t>2019/1/25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5A20A-F7E8-4753-AF4B-C3CF6A92C88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251563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0F631-D9F9-485D-A8A7-FBCC0A6DEB3B}" type="datetime1">
              <a:rPr lang="zh-TW" altLang="en-US" smtClean="0"/>
              <a:t>2019/1/25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5A20A-F7E8-4753-AF4B-C3CF6A92C88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093375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75AFD7-6536-4BBC-B4F5-162D418B1EF9}" type="datetime1">
              <a:rPr lang="zh-TW" altLang="en-US" smtClean="0"/>
              <a:t>2019/1/25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5A20A-F7E8-4753-AF4B-C3CF6A92C88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215773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DE5034-CF1F-46CC-8010-D2EE1EC431AC}" type="datetime1">
              <a:rPr lang="zh-TW" altLang="en-US" smtClean="0"/>
              <a:t>2019/1/25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5A20A-F7E8-4753-AF4B-C3CF6A92C88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347766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536C5-8994-4C5F-9AAA-0087632E8E03}" type="datetime1">
              <a:rPr lang="zh-TW" altLang="en-US" smtClean="0"/>
              <a:t>2019/1/25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5A20A-F7E8-4753-AF4B-C3CF6A92C88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681621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B1B748-B0C9-4E29-816D-BCE9B5A5AE71}" type="datetime1">
              <a:rPr lang="zh-TW" altLang="en-US" smtClean="0"/>
              <a:t>2019/1/25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5A20A-F7E8-4753-AF4B-C3CF6A92C88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99767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5625B0-3DA2-46E8-A440-06EDB94EFED8}" type="datetime1">
              <a:rPr lang="zh-TW" altLang="en-US" smtClean="0"/>
              <a:t>2019/1/25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5A20A-F7E8-4753-AF4B-C3CF6A92C88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645572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9EDA39-FB92-4D22-8166-E82F9F3AF4C2}" type="datetime1">
              <a:rPr lang="zh-TW" altLang="en-US" smtClean="0"/>
              <a:t>2019/1/25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5A20A-F7E8-4753-AF4B-C3CF6A92C88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957227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26767-40C5-4E65-94B8-E8FE20F3D12E}" type="datetime1">
              <a:rPr lang="zh-TW" altLang="en-US" smtClean="0"/>
              <a:t>2019/1/25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5A20A-F7E8-4753-AF4B-C3CF6A92C88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961225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16B031-C1DB-4304-B5A7-9AD6C929368C}" type="datetime1">
              <a:rPr lang="zh-TW" altLang="en-US" smtClean="0"/>
              <a:t>2019/1/25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05A20A-F7E8-4753-AF4B-C3CF6A92C88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61956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0.pn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8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平均數檢定</a:t>
            </a:r>
            <a:r>
              <a:rPr lang="en-US" altLang="zh-TW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(t </a:t>
            </a:r>
            <a:r>
              <a:rPr lang="zh-TW" altLang="en-US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檢定</a:t>
            </a:r>
            <a:r>
              <a:rPr lang="en-US" altLang="zh-TW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altLang="zh-TW" dirty="0" smtClean="0"/>
          </a:p>
          <a:p>
            <a:r>
              <a:rPr lang="zh-TW" altLang="en-US" sz="28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流行病學與預防醫學研究所</a:t>
            </a:r>
            <a:endParaRPr lang="en-US" altLang="zh-TW" sz="2800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sz="28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林瑞祥</a:t>
            </a:r>
            <a:endParaRPr lang="zh-TW" altLang="en-US" sz="28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5A20A-F7E8-4753-AF4B-C3CF6A92C889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258409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TW" altLang="en-US" smtClean="0">
                <a:latin typeface="+mn-lt"/>
                <a:ea typeface="標楷體" panose="03000509000000000000" pitchFamily="65" charset="-120"/>
              </a:rPr>
              <a:t>平均數檢定</a:t>
            </a:r>
            <a:endParaRPr lang="zh-TW" altLang="en-US" dirty="0">
              <a:latin typeface="+mn-lt"/>
              <a:ea typeface="標楷體" panose="03000509000000000000" pitchFamily="65" charset="-12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TW" altLang="en-US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當母群體皆服從</a:t>
            </a:r>
            <a:r>
              <a:rPr lang="zh-TW" altLang="en-US" dirty="0" smtClean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常態分布</a:t>
            </a:r>
            <a:r>
              <a:rPr lang="zh-TW" altLang="en-US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，母群體標準差未知</a:t>
            </a:r>
            <a:endParaRPr lang="en-US" altLang="zh-TW" dirty="0" smtClean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en-US" altLang="zh-TW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One sample t test</a:t>
            </a:r>
            <a:r>
              <a:rPr lang="zh-TW" altLang="en-US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：只對單一母群體的平均值檢定。</a:t>
            </a:r>
            <a:endParaRPr lang="en-US" altLang="zh-TW" dirty="0" smtClean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en-US" altLang="zh-TW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Paired t test</a:t>
            </a:r>
            <a:r>
              <a:rPr lang="zh-TW" altLang="en-US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：對成對母群體的平均值檢定。</a:t>
            </a:r>
            <a:endParaRPr lang="en-US" altLang="zh-TW" dirty="0" smtClean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en-US" altLang="zh-TW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Two independent samples t test</a:t>
            </a:r>
            <a:r>
              <a:rPr lang="zh-TW" altLang="en-US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：對兩個獨立母群體的平均值檢定。</a:t>
            </a:r>
            <a:endParaRPr lang="en-US" altLang="zh-TW" dirty="0" smtClean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/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Equal variances</a:t>
            </a:r>
          </a:p>
          <a:p>
            <a:pPr lvl="1"/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Unequal variances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en-US" altLang="zh-TW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Analysis of variance</a:t>
            </a:r>
            <a:r>
              <a:rPr lang="zh-TW" altLang="en-US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：對兩個以上獨立母群體的平均值檢定。</a:t>
            </a:r>
            <a:endParaRPr lang="en-US" altLang="zh-TW" dirty="0" smtClean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06100-5CED-47FA-97FD-F396D5632AD3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065480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Student’s t-distribution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內容版面配置區 3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zh-TW" altLang="en-US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假設有一服從</a:t>
                </a:r>
                <a:r>
                  <a:rPr lang="zh-TW" altLang="en-US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常態分布之母群體</a:t>
                </a:r>
                <a:r>
                  <a:rPr lang="zh-TW" altLang="en-US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，</a:t>
                </a:r>
                <a:r>
                  <a:rPr lang="zh-TW" altLang="en-US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母群體標準差未知</a:t>
                </a:r>
                <a:r>
                  <a:rPr lang="zh-TW" altLang="en-US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，隨機抽樣一樣本數為</a:t>
                </a:r>
                <a:r>
                  <a:rPr lang="en-US" altLang="zh-TW" i="1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n</a:t>
                </a:r>
                <a:r>
                  <a:rPr lang="zh-TW" altLang="en-US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的隨機樣本，其樣本平均值為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zh-TW" alt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</m:oMath>
                </a14:m>
                <a:r>
                  <a:rPr lang="zh-TW" altLang="en-US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，樣本標準差為</a:t>
                </a:r>
                <a:r>
                  <a:rPr lang="en-US" altLang="zh-TW" i="1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s</a:t>
                </a:r>
                <a:r>
                  <a:rPr lang="zh-TW" altLang="en-US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，則下列統計量</a:t>
                </a:r>
                <a:endParaRPr lang="en-US" altLang="zh-TW" dirty="0" smtClean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altLang="zh-TW" dirty="0" smtClean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altLang="zh-TW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TW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acc>
                            <m:accPr>
                              <m:chr m:val="̅"/>
                              <m:ctrlPr>
                                <a:rPr lang="en-US" altLang="zh-TW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acc>
                          <m:r>
                            <a:rPr lang="en-US" altLang="zh-TW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num>
                        <m:den>
                          <m:f>
                            <m:fPr>
                              <m:type m:val="lin"/>
                              <m:ctrlPr>
                                <a:rPr lang="en-US" altLang="zh-TW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TW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US" altLang="zh-TW" b="0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altLang="zh-TW" b="0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rad>
                            </m:den>
                          </m:f>
                        </m:den>
                      </m:f>
                    </m:oMath>
                  </m:oMathPara>
                </a14:m>
                <a:endParaRPr lang="en-US" altLang="zh-TW" dirty="0" smtClean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altLang="zh-TW" dirty="0" smtClean="0">
                  <a:solidFill>
                    <a:srgbClr val="FF0000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zh-TW" altLang="en-US" dirty="0" smtClean="0">
                    <a:solidFill>
                      <a:srgbClr val="0070C0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服從</a:t>
                </a:r>
                <a:r>
                  <a:rPr lang="en-US" altLang="zh-TW" dirty="0" smtClean="0">
                    <a:solidFill>
                      <a:srgbClr val="0070C0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Student’s t</a:t>
                </a:r>
                <a:r>
                  <a:rPr lang="zh-TW" altLang="en-US" dirty="0" smtClean="0">
                    <a:solidFill>
                      <a:srgbClr val="0070C0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分布，其自由度為</a:t>
                </a:r>
                <a:r>
                  <a:rPr lang="en-US" altLang="zh-TW" i="1" dirty="0" smtClean="0">
                    <a:solidFill>
                      <a:srgbClr val="0070C0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n-1</a:t>
                </a:r>
                <a:endParaRPr lang="en-US" altLang="zh-TW" dirty="0" smtClean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altLang="zh-TW" dirty="0"/>
              </a:p>
              <a:p>
                <a:pPr marL="0" indent="0">
                  <a:buNone/>
                </a:pPr>
                <a:endParaRPr lang="zh-TW" altLang="en-US" dirty="0"/>
              </a:p>
            </p:txBody>
          </p:sp>
        </mc:Choice>
        <mc:Fallback xmlns="">
          <p:sp>
            <p:nvSpPr>
              <p:cNvPr id="4" name="內容版面配置區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381" r="-98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06100-5CED-47FA-97FD-F396D5632AD3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023853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TW" altLang="en-US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單一樣本 </a:t>
            </a:r>
            <a:r>
              <a:rPr lang="en-US" altLang="zh-TW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 </a:t>
            </a:r>
            <a:r>
              <a:rPr lang="zh-TW" altLang="en-US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檢定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4" name="內容版面配置區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TW" altLang="en-US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假設一藥廠進行新降血壓藥的第一期臨床試驗，結果如下：</a:t>
            </a:r>
            <a:endParaRPr lang="en-US" altLang="zh-TW" dirty="0" smtClean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zh-TW" altLang="en-US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若顯著水準為</a:t>
            </a:r>
            <a:r>
              <a:rPr lang="en-US" altLang="zh-TW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0.05</a:t>
            </a:r>
            <a:r>
              <a:rPr lang="zh-TW" altLang="en-US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</a:t>
            </a:r>
            <a:endParaRPr lang="en-US" altLang="zh-TW" dirty="0" smtClean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zh-TW" altLang="en-US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請問新降血壓藥是否能有效地改變血壓？</a:t>
            </a:r>
            <a:endParaRPr lang="en-US" altLang="zh-TW" dirty="0" smtClean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zh-TW" altLang="en-US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請問新降血壓藥是否能有效地降低血壓？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06100-5CED-47FA-97FD-F396D5632AD3}" type="slidenum">
              <a:rPr lang="zh-TW" altLang="en-US" smtClean="0"/>
              <a:t>4</a:t>
            </a:fld>
            <a:endParaRPr lang="zh-TW" altLang="en-US"/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/>
          </p:nvPr>
        </p:nvGraphicFramePr>
        <p:xfrm>
          <a:off x="8517924" y="2585831"/>
          <a:ext cx="1320800" cy="36808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0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06791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 smtClean="0">
                          <a:solidFill>
                            <a:schemeClr val="tx1"/>
                          </a:solidFill>
                          <a:latin typeface="+mn-lt"/>
                          <a:ea typeface="標楷體" panose="03000509000000000000" pitchFamily="65" charset="-120"/>
                        </a:rPr>
                        <a:t>血壓下降</a:t>
                      </a:r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+mn-lt"/>
                          <a:ea typeface="標楷體" panose="03000509000000000000" pitchFamily="65" charset="-120"/>
                        </a:rPr>
                        <a:t>(mmHg)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+mn-lt"/>
                        <a:ea typeface="標楷體" panose="03000509000000000000" pitchFamily="65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679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  <a:latin typeface="+mn-lt"/>
                          <a:ea typeface="標楷體" panose="03000509000000000000" pitchFamily="65" charset="-120"/>
                        </a:rPr>
                        <a:t>5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+mn-lt"/>
                        <a:ea typeface="標楷體" panose="03000509000000000000" pitchFamily="65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679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  <a:latin typeface="+mn-lt"/>
                          <a:ea typeface="標楷體" panose="03000509000000000000" pitchFamily="65" charset="-120"/>
                        </a:rPr>
                        <a:t>7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+mn-lt"/>
                        <a:ea typeface="標楷體" panose="03000509000000000000" pitchFamily="65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679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  <a:latin typeface="+mn-lt"/>
                          <a:ea typeface="標楷體" panose="03000509000000000000" pitchFamily="65" charset="-120"/>
                        </a:rPr>
                        <a:t>8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+mn-lt"/>
                        <a:ea typeface="標楷體" panose="03000509000000000000" pitchFamily="65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679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  <a:latin typeface="+mn-lt"/>
                          <a:ea typeface="標楷體" panose="03000509000000000000" pitchFamily="65" charset="-120"/>
                        </a:rPr>
                        <a:t>13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+mn-lt"/>
                        <a:ea typeface="標楷體" panose="03000509000000000000" pitchFamily="65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679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  <a:latin typeface="+mn-lt"/>
                          <a:ea typeface="標楷體" panose="03000509000000000000" pitchFamily="65" charset="-120"/>
                        </a:rPr>
                        <a:t>16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+mn-lt"/>
                        <a:ea typeface="標楷體" panose="03000509000000000000" pitchFamily="65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679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  <a:latin typeface="+mn-lt"/>
                          <a:ea typeface="標楷體" panose="03000509000000000000" pitchFamily="65" charset="-120"/>
                        </a:rPr>
                        <a:t>19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+mn-lt"/>
                        <a:ea typeface="標楷體" panose="03000509000000000000" pitchFamily="65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129641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步驟一與二</a:t>
            </a:r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內容版面配置區 3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pPr marL="0" indent="0">
                  <a:lnSpc>
                    <a:spcPct val="110000"/>
                  </a:lnSpc>
                  <a:buNone/>
                </a:pPr>
                <a:r>
                  <a:rPr lang="zh-TW" altLang="en-US" dirty="0" smtClean="0">
                    <a:ea typeface="標楷體" panose="03000509000000000000" pitchFamily="65" charset="-120"/>
                  </a:rPr>
                  <a:t>步驟一：定義虛無假設與對立假設</a:t>
                </a:r>
                <a:endParaRPr lang="en-US" altLang="zh-TW" dirty="0" smtClean="0">
                  <a:ea typeface="標楷體" panose="03000509000000000000" pitchFamily="65" charset="-120"/>
                </a:endParaRPr>
              </a:p>
              <a:p>
                <a:pPr marL="0" indent="0">
                  <a:lnSpc>
                    <a:spcPct val="110000"/>
                  </a:lnSpc>
                  <a:buNone/>
                </a:pPr>
                <a:r>
                  <a:rPr lang="zh-TW" altLang="en-US" dirty="0" smtClean="0">
                    <a:latin typeface="標楷體" panose="03000509000000000000" pitchFamily="65" charset="-120"/>
                    <a:ea typeface="標楷體" panose="03000509000000000000" pitchFamily="65" charset="-120"/>
                  </a:rPr>
                  <a:t>請問新降血壓藥是否能有效地改變血壓？</a:t>
                </a:r>
                <a:endParaRPr lang="en-US" altLang="zh-TW" dirty="0" smtClean="0">
                  <a:latin typeface="標楷體" panose="03000509000000000000" pitchFamily="65" charset="-120"/>
                  <a:ea typeface="標楷體" panose="03000509000000000000" pitchFamily="65" charset="-120"/>
                </a:endParaRPr>
              </a:p>
              <a:p>
                <a:pPr marL="0" indent="0">
                  <a:lnSpc>
                    <a:spcPct val="110000"/>
                  </a:lnSpc>
                  <a:buNone/>
                </a:pPr>
                <a:r>
                  <a:rPr lang="zh-TW" altLang="en-US" dirty="0" smtClean="0">
                    <a:latin typeface="標楷體" panose="03000509000000000000" pitchFamily="65" charset="-120"/>
                    <a:ea typeface="標楷體" panose="03000509000000000000" pitchFamily="65" charset="-120"/>
                  </a:rPr>
                  <a:t>令</a:t>
                </a:r>
                <a14:m>
                  <m:oMath xmlns:m="http://schemas.openxmlformats.org/officeDocument/2006/math">
                    <m:r>
                      <a:rPr lang="zh-TW" altLang="en-US" i="1" smtClean="0">
                        <a:latin typeface="Cambria Math" panose="02040503050406030204" pitchFamily="18" charset="0"/>
                        <a:ea typeface="標楷體" panose="03000509000000000000" pitchFamily="65" charset="-120"/>
                      </a:rPr>
                      <m:t>𝜇</m:t>
                    </m:r>
                  </m:oMath>
                </a14:m>
                <a:r>
                  <a:rPr lang="zh-TW" altLang="en-US" dirty="0" smtClean="0">
                    <a:latin typeface="標楷體" panose="03000509000000000000" pitchFamily="65" charset="-120"/>
                    <a:ea typeface="標楷體" panose="03000509000000000000" pitchFamily="65" charset="-120"/>
                  </a:rPr>
                  <a:t>為血壓的變化量</a:t>
                </a:r>
                <a:endParaRPr lang="en-US" altLang="zh-TW" dirty="0">
                  <a:latin typeface="標楷體" panose="03000509000000000000" pitchFamily="65" charset="-120"/>
                  <a:ea typeface="標楷體" panose="03000509000000000000" pitchFamily="65" charset="-120"/>
                </a:endParaRPr>
              </a:p>
              <a:p>
                <a:pPr marL="0" indent="0">
                  <a:lnSpc>
                    <a:spcPct val="110000"/>
                  </a:lnSpc>
                  <a:buNone/>
                </a:pPr>
                <a:r>
                  <a:rPr lang="zh-TW" altLang="en-US" dirty="0" smtClean="0">
                    <a:solidFill>
                      <a:srgbClr val="FF0000"/>
                    </a:solidFill>
                    <a:ea typeface="標楷體" panose="03000509000000000000" pitchFamily="65" charset="-120"/>
                  </a:rPr>
                  <a:t>　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標楷體" panose="03000509000000000000" pitchFamily="65" charset="-120"/>
                          </a:rPr>
                        </m:ctrlPr>
                      </m:sSubPr>
                      <m:e>
                        <m:r>
                          <a:rPr lang="en-US" altLang="zh-TW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標楷體" panose="03000509000000000000" pitchFamily="65" charset="-120"/>
                          </a:rPr>
                          <m:t>𝐻</m:t>
                        </m:r>
                      </m:e>
                      <m:sub>
                        <m:r>
                          <a:rPr lang="en-US" altLang="zh-TW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標楷體" panose="03000509000000000000" pitchFamily="65" charset="-120"/>
                          </a:rPr>
                          <m:t>0</m:t>
                        </m:r>
                      </m:sub>
                    </m:sSub>
                    <m:r>
                      <a:rPr lang="en-US" altLang="zh-TW" i="1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標楷體" panose="03000509000000000000" pitchFamily="65" charset="-120"/>
                      </a:rPr>
                      <m:t>:</m:t>
                    </m:r>
                    <m:r>
                      <a:rPr lang="zh-TW" altLang="en-US" i="1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標楷體" panose="03000509000000000000" pitchFamily="65" charset="-120"/>
                      </a:rPr>
                      <m:t>𝜇</m:t>
                    </m:r>
                    <m:r>
                      <a:rPr lang="en-US" altLang="zh-TW" i="1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zh-TW" altLang="en-US" i="1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標楷體" panose="03000509000000000000" pitchFamily="65" charset="-120"/>
                      </a:rPr>
                      <m:t>0</m:t>
                    </m:r>
                    <m:r>
                      <a:rPr lang="en-US" altLang="zh-TW" i="1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標楷體" panose="03000509000000000000" pitchFamily="65" charset="-120"/>
                      </a:rPr>
                      <m:t> </m:t>
                    </m:r>
                    <m:r>
                      <a:rPr lang="en-US" altLang="zh-TW" i="1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標楷體" panose="03000509000000000000" pitchFamily="65" charset="-120"/>
                      </a:rPr>
                      <m:t>𝑣𝑠</m:t>
                    </m:r>
                    <m:r>
                      <a:rPr lang="en-US" altLang="zh-TW" i="1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標楷體" panose="03000509000000000000" pitchFamily="65" charset="-120"/>
                      </a:rPr>
                      <m:t>.</m:t>
                    </m:r>
                    <m:sSub>
                      <m:sSubPr>
                        <m:ctrlPr>
                          <a:rPr lang="en-US" altLang="zh-TW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標楷體" panose="03000509000000000000" pitchFamily="65" charset="-120"/>
                          </a:rPr>
                        </m:ctrlPr>
                      </m:sSubPr>
                      <m:e>
                        <m:r>
                          <a:rPr lang="en-US" altLang="zh-TW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標楷體" panose="03000509000000000000" pitchFamily="65" charset="-120"/>
                          </a:rPr>
                          <m:t>𝐻</m:t>
                        </m:r>
                      </m:e>
                      <m:sub>
                        <m:r>
                          <a:rPr lang="en-US" altLang="zh-TW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標楷體" panose="03000509000000000000" pitchFamily="65" charset="-120"/>
                          </a:rPr>
                          <m:t>1</m:t>
                        </m:r>
                      </m:sub>
                    </m:sSub>
                    <m:r>
                      <a:rPr lang="en-US" altLang="zh-TW" i="1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標楷體" panose="03000509000000000000" pitchFamily="65" charset="-120"/>
                      </a:rPr>
                      <m:t>:</m:t>
                    </m:r>
                    <m:r>
                      <a:rPr lang="zh-TW" altLang="en-US" i="1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標楷體" panose="03000509000000000000" pitchFamily="65" charset="-120"/>
                      </a:rPr>
                      <m:t>𝜇</m:t>
                    </m:r>
                    <m:r>
                      <a:rPr lang="zh-TW" altLang="en-US" i="1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標楷體" panose="03000509000000000000" pitchFamily="65" charset="-120"/>
                      </a:rPr>
                      <m:t>≠0</m:t>
                    </m:r>
                  </m:oMath>
                </a14:m>
                <a:endParaRPr lang="en-US" altLang="zh-TW" dirty="0">
                  <a:solidFill>
                    <a:srgbClr val="FF0000"/>
                  </a:solidFill>
                  <a:latin typeface="標楷體" panose="03000509000000000000" pitchFamily="65" charset="-120"/>
                  <a:ea typeface="標楷體" panose="03000509000000000000" pitchFamily="65" charset="-120"/>
                </a:endParaRPr>
              </a:p>
              <a:p>
                <a:pPr marL="0" indent="0">
                  <a:lnSpc>
                    <a:spcPct val="110000"/>
                  </a:lnSpc>
                  <a:buNone/>
                </a:pPr>
                <a:r>
                  <a:rPr lang="zh-TW" altLang="en-US" dirty="0" smtClean="0">
                    <a:ea typeface="標楷體" panose="03000509000000000000" pitchFamily="65" charset="-120"/>
                  </a:rPr>
                  <a:t>步驟</a:t>
                </a:r>
                <a:r>
                  <a:rPr lang="zh-TW" altLang="en-US" dirty="0">
                    <a:ea typeface="標楷體" panose="03000509000000000000" pitchFamily="65" charset="-120"/>
                  </a:rPr>
                  <a:t>二：從樣本收集相關</a:t>
                </a:r>
                <a:r>
                  <a:rPr lang="zh-TW" altLang="en-US" dirty="0" smtClean="0">
                    <a:ea typeface="標楷體" panose="03000509000000000000" pitchFamily="65" charset="-120"/>
                  </a:rPr>
                  <a:t>數據</a:t>
                </a:r>
                <a:endParaRPr lang="en-US" altLang="zh-TW" dirty="0" smtClean="0">
                  <a:ea typeface="標楷體" panose="03000509000000000000" pitchFamily="65" charset="-120"/>
                </a:endParaRPr>
              </a:p>
              <a:p>
                <a:pPr marL="0" indent="0">
                  <a:lnSpc>
                    <a:spcPct val="110000"/>
                  </a:lnSpc>
                  <a:buNone/>
                </a:pPr>
                <a:r>
                  <a:rPr lang="zh-TW" altLang="en-US" dirty="0" smtClean="0">
                    <a:ea typeface="標楷體" panose="03000509000000000000" pitchFamily="65" charset="-120"/>
                  </a:rPr>
                  <a:t>　樣本平均值　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zh-TW" altLang="en-US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標楷體" panose="03000509000000000000" pitchFamily="65" charset="-120"/>
                          </a:rPr>
                        </m:ctrlPr>
                      </m:accPr>
                      <m:e>
                        <m:r>
                          <a:rPr lang="en-US" altLang="zh-TW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標楷體" panose="03000509000000000000" pitchFamily="65" charset="-120"/>
                          </a:rPr>
                          <m:t>𝑋</m:t>
                        </m:r>
                      </m:e>
                    </m:acc>
                    <m:r>
                      <a:rPr lang="en-US" altLang="zh-TW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TW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11.33</m:t>
                    </m:r>
                    <m:r>
                      <a:rPr lang="en-US" altLang="zh-TW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𝑚𝑚𝐻𝑔</m:t>
                    </m:r>
                  </m:oMath>
                </a14:m>
                <a:endParaRPr lang="en-US" altLang="zh-TW" dirty="0" smtClean="0">
                  <a:solidFill>
                    <a:srgbClr val="0070C0"/>
                  </a:solidFill>
                  <a:ea typeface="標楷體" panose="03000509000000000000" pitchFamily="65" charset="-120"/>
                </a:endParaRPr>
              </a:p>
              <a:p>
                <a:pPr marL="0" indent="0">
                  <a:lnSpc>
                    <a:spcPct val="110000"/>
                  </a:lnSpc>
                  <a:buNone/>
                </a:pPr>
                <a:r>
                  <a:rPr lang="zh-TW" altLang="en-US" dirty="0" smtClean="0">
                    <a:ea typeface="標楷體" panose="03000509000000000000" pitchFamily="65" charset="-120"/>
                  </a:rPr>
                  <a:t>　樣本標準差　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標楷體" panose="03000509000000000000" pitchFamily="65" charset="-120"/>
                      </a:rPr>
                      <m:t>𝑠</m:t>
                    </m:r>
                    <m:r>
                      <a:rPr lang="en-US" altLang="zh-TW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標楷體" panose="03000509000000000000" pitchFamily="65" charset="-120"/>
                      </a:rPr>
                      <m:t>=5.54</m:t>
                    </m:r>
                    <m:r>
                      <a:rPr lang="en-US" altLang="zh-TW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標楷體" panose="03000509000000000000" pitchFamily="65" charset="-120"/>
                      </a:rPr>
                      <m:t>𝑚𝑚𝐻𝑔</m:t>
                    </m:r>
                  </m:oMath>
                </a14:m>
                <a:endParaRPr lang="en-US" altLang="zh-TW" dirty="0" smtClean="0">
                  <a:ea typeface="標楷體" panose="03000509000000000000" pitchFamily="65" charset="-120"/>
                </a:endParaRPr>
              </a:p>
              <a:p>
                <a:pPr marL="0" indent="0">
                  <a:lnSpc>
                    <a:spcPct val="110000"/>
                  </a:lnSpc>
                  <a:buNone/>
                </a:pPr>
                <a:r>
                  <a:rPr lang="zh-TW" altLang="en-US" dirty="0" smtClean="0">
                    <a:ea typeface="標楷體" panose="03000509000000000000" pitchFamily="65" charset="-120"/>
                  </a:rPr>
                  <a:t>　樣本平均值標準誤　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TW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標楷體" panose="03000509000000000000" pitchFamily="65" charset="-120"/>
                          </a:rPr>
                        </m:ctrlPr>
                      </m:fPr>
                      <m:num>
                        <m:r>
                          <a:rPr lang="en-US" altLang="zh-TW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標楷體" panose="03000509000000000000" pitchFamily="65" charset="-120"/>
                          </a:rPr>
                          <m:t>𝑠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zh-TW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ea typeface="標楷體" panose="03000509000000000000" pitchFamily="65" charset="-12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TW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ea typeface="標楷體" panose="03000509000000000000" pitchFamily="65" charset="-120"/>
                              </a:rPr>
                              <m:t>𝑛</m:t>
                            </m:r>
                          </m:e>
                        </m:rad>
                      </m:den>
                    </m:f>
                    <m:r>
                      <a:rPr lang="en-US" altLang="zh-TW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標楷體" panose="03000509000000000000" pitchFamily="65" charset="-120"/>
                      </a:rPr>
                      <m:t>=2.26</m:t>
                    </m:r>
                    <m:r>
                      <a:rPr lang="en-US" altLang="zh-TW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標楷體" panose="03000509000000000000" pitchFamily="65" charset="-120"/>
                      </a:rPr>
                      <m:t>𝑚𝑚𝐻𝑔</m:t>
                    </m:r>
                  </m:oMath>
                </a14:m>
                <a:endParaRPr lang="en-US" altLang="zh-TW" dirty="0">
                  <a:ea typeface="標楷體" panose="03000509000000000000" pitchFamily="65" charset="-120"/>
                </a:endParaRPr>
              </a:p>
            </p:txBody>
          </p:sp>
        </mc:Choice>
        <mc:Fallback xmlns="">
          <p:sp>
            <p:nvSpPr>
              <p:cNvPr id="4" name="內容版面配置區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043" t="-140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06100-5CED-47FA-97FD-F396D5632AD3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970469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步驟三</a:t>
            </a:r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內容版面配置區 3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lnSpc>
                    <a:spcPct val="100000"/>
                  </a:lnSpc>
                  <a:buNone/>
                </a:pPr>
                <a:r>
                  <a:rPr lang="zh-TW" altLang="en-US" dirty="0" smtClean="0">
                    <a:ea typeface="標楷體" panose="03000509000000000000" pitchFamily="65" charset="-120"/>
                  </a:rPr>
                  <a:t>步驟三：計算針對虛無假設的檢定統計量</a:t>
                </a:r>
                <a:endParaRPr lang="en-US" altLang="zh-TW" dirty="0" smtClean="0">
                  <a:ea typeface="標楷體" panose="03000509000000000000" pitchFamily="65" charset="-120"/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標楷體" panose="03000509000000000000" pitchFamily="65" charset="-120"/>
                        </a:rPr>
                        <m:t>𝑇</m:t>
                      </m:r>
                      <m:r>
                        <a:rPr lang="en-US" altLang="zh-TW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標楷體" panose="03000509000000000000" pitchFamily="65" charset="-120"/>
                        </a:rPr>
                        <m:t>=</m:t>
                      </m:r>
                      <m:f>
                        <m:fPr>
                          <m:ctrlPr>
                            <a:rPr lang="en-US" altLang="zh-TW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標楷體" panose="03000509000000000000" pitchFamily="65" charset="-120"/>
                            </a:rPr>
                          </m:ctrlPr>
                        </m:fPr>
                        <m:num>
                          <m:acc>
                            <m:accPr>
                              <m:chr m:val="̅"/>
                              <m:ctrlPr>
                                <a:rPr lang="en-US" altLang="zh-TW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標楷體" panose="03000509000000000000" pitchFamily="65" charset="-120"/>
                                </a:rPr>
                              </m:ctrlPr>
                            </m:accPr>
                            <m:e>
                              <m:r>
                                <a:rPr lang="en-US" altLang="zh-TW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標楷體" panose="03000509000000000000" pitchFamily="65" charset="-120"/>
                                </a:rPr>
                                <m:t>𝑋</m:t>
                              </m:r>
                            </m:e>
                          </m:acc>
                          <m:r>
                            <a:rPr lang="en-US" altLang="zh-TW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標楷體" panose="03000509000000000000" pitchFamily="65" charset="-120"/>
                            </a:rPr>
                            <m:t>−</m:t>
                          </m:r>
                          <m:r>
                            <a:rPr lang="zh-TW" alt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標楷體" panose="03000509000000000000" pitchFamily="65" charset="-120"/>
                            </a:rPr>
                            <m:t>𝜇</m:t>
                          </m:r>
                        </m:num>
                        <m:den>
                          <m:f>
                            <m:fPr>
                              <m:type m:val="lin"/>
                              <m:ctrlPr>
                                <a:rPr lang="en-US" altLang="zh-TW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標楷體" panose="03000509000000000000" pitchFamily="65" charset="-120"/>
                                </a:rPr>
                              </m:ctrlPr>
                            </m:fPr>
                            <m:num>
                              <m:r>
                                <a:rPr lang="en-US" altLang="zh-TW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標楷體" panose="03000509000000000000" pitchFamily="65" charset="-120"/>
                                </a:rPr>
                                <m:t>𝑠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US" altLang="zh-TW" b="0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ea typeface="標楷體" panose="03000509000000000000" pitchFamily="65" charset="-12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altLang="zh-TW" b="0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ea typeface="標楷體" panose="03000509000000000000" pitchFamily="65" charset="-120"/>
                                    </a:rPr>
                                    <m:t>𝑛</m:t>
                                  </m:r>
                                </m:e>
                              </m:rad>
                            </m:den>
                          </m:f>
                        </m:den>
                      </m:f>
                      <m:r>
                        <a:rPr lang="en-US" altLang="zh-TW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標楷體" panose="03000509000000000000" pitchFamily="65" charset="-120"/>
                        </a:rPr>
                        <m:t>=</m:t>
                      </m:r>
                      <m:f>
                        <m:fPr>
                          <m:ctrlPr>
                            <a:rPr lang="en-US" altLang="zh-TW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標楷體" panose="03000509000000000000" pitchFamily="65" charset="-120"/>
                            </a:rPr>
                          </m:ctrlPr>
                        </m:fPr>
                        <m:num>
                          <m:r>
                            <a:rPr lang="en-US" altLang="zh-TW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標楷體" panose="03000509000000000000" pitchFamily="65" charset="-120"/>
                            </a:rPr>
                            <m:t>11</m:t>
                          </m:r>
                          <m:r>
                            <a:rPr lang="en-US" altLang="zh-TW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標楷體" panose="03000509000000000000" pitchFamily="65" charset="-120"/>
                            </a:rPr>
                            <m:t>.33</m:t>
                          </m:r>
                          <m:r>
                            <a:rPr lang="en-US" altLang="zh-TW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標楷體" panose="03000509000000000000" pitchFamily="65" charset="-120"/>
                            </a:rPr>
                            <m:t>−</m:t>
                          </m:r>
                          <m:r>
                            <a:rPr lang="en-US" altLang="zh-TW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標楷體" panose="03000509000000000000" pitchFamily="65" charset="-120"/>
                            </a:rPr>
                            <m:t>0</m:t>
                          </m:r>
                        </m:num>
                        <m:den>
                          <m:r>
                            <a:rPr lang="en-US" altLang="zh-TW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標楷體" panose="03000509000000000000" pitchFamily="65" charset="-120"/>
                            </a:rPr>
                            <m:t>2.26</m:t>
                          </m:r>
                        </m:den>
                      </m:f>
                      <m:r>
                        <a:rPr lang="en-US" altLang="zh-TW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標楷體" panose="03000509000000000000" pitchFamily="65" charset="-120"/>
                        </a:rPr>
                        <m:t>=</m:t>
                      </m:r>
                      <m:r>
                        <a:rPr lang="en-US" altLang="zh-TW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標楷體" panose="03000509000000000000" pitchFamily="65" charset="-120"/>
                        </a:rPr>
                        <m:t>5.01~</m:t>
                      </m:r>
                      <m:sSub>
                        <m:sSubPr>
                          <m:ctrlPr>
                            <a:rPr lang="en-US" altLang="zh-TW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標楷體" panose="03000509000000000000" pitchFamily="65" charset="-12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標楷體" panose="03000509000000000000" pitchFamily="65" charset="-120"/>
                            </a:rPr>
                            <m:t>𝑡</m:t>
                          </m:r>
                        </m:e>
                        <m:sub>
                          <m:r>
                            <a:rPr lang="en-US" altLang="zh-TW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標楷體" panose="03000509000000000000" pitchFamily="65" charset="-120"/>
                            </a:rPr>
                            <m:t>𝑑𝑓</m:t>
                          </m:r>
                          <m:r>
                            <a:rPr lang="en-US" altLang="zh-TW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標楷體" panose="03000509000000000000" pitchFamily="65" charset="-120"/>
                            </a:rPr>
                            <m:t>=5</m:t>
                          </m:r>
                        </m:sub>
                      </m:sSub>
                    </m:oMath>
                  </m:oMathPara>
                </a14:m>
                <a:endParaRPr lang="en-US" altLang="zh-TW" dirty="0">
                  <a:solidFill>
                    <a:srgbClr val="FF0000"/>
                  </a:solidFill>
                  <a:latin typeface="標楷體" panose="03000509000000000000" pitchFamily="65" charset="-120"/>
                  <a:ea typeface="標楷體" panose="03000509000000000000" pitchFamily="65" charset="-120"/>
                </a:endParaRPr>
              </a:p>
              <a:p>
                <a:pPr marL="0" indent="0">
                  <a:buNone/>
                </a:pPr>
                <a:r>
                  <a:rPr lang="zh-TW" altLang="en-US" dirty="0" smtClean="0">
                    <a:ea typeface="標楷體" panose="03000509000000000000" pitchFamily="65" charset="-120"/>
                  </a:rPr>
                  <a:t>在虛無假設為真的情況下，</a:t>
                </a:r>
                <a:r>
                  <a:rPr lang="zh-TW" altLang="en-US" dirty="0">
                    <a:solidFill>
                      <a:srgbClr val="FF0000"/>
                    </a:solidFill>
                    <a:ea typeface="標楷體" panose="03000509000000000000" pitchFamily="65" charset="-120"/>
                  </a:rPr>
                  <a:t> </a:t>
                </a:r>
                <a:r>
                  <a:rPr lang="zh-TW" altLang="en-US" dirty="0" smtClean="0">
                    <a:ea typeface="標楷體" panose="03000509000000000000" pitchFamily="65" charset="-120"/>
                  </a:rPr>
                  <a:t>檢定統計量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標楷體" panose="03000509000000000000" pitchFamily="65" charset="-120"/>
                      </a:rPr>
                      <m:t>𝑇</m:t>
                    </m:r>
                  </m:oMath>
                </a14:m>
                <a:r>
                  <a:rPr lang="zh-TW" altLang="en-US" dirty="0" smtClean="0">
                    <a:ea typeface="標楷體" panose="03000509000000000000" pitchFamily="65" charset="-120"/>
                  </a:rPr>
                  <a:t>的抽樣分布為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標楷體" panose="03000509000000000000" pitchFamily="65" charset="-12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標楷體" panose="03000509000000000000" pitchFamily="65" charset="-120"/>
                          </a:rPr>
                          <m:t>𝑡</m:t>
                        </m:r>
                      </m:e>
                      <m:sub>
                        <m:r>
                          <a:rPr lang="en-US" altLang="zh-TW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標楷體" panose="03000509000000000000" pitchFamily="65" charset="-120"/>
                          </a:rPr>
                          <m:t>𝑑𝑓</m:t>
                        </m:r>
                        <m:r>
                          <a:rPr lang="en-US" altLang="zh-TW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標楷體" panose="03000509000000000000" pitchFamily="65" charset="-120"/>
                          </a:rPr>
                          <m:t>=5</m:t>
                        </m:r>
                      </m:sub>
                    </m:sSub>
                  </m:oMath>
                </a14:m>
                <a:r>
                  <a:rPr lang="zh-TW" altLang="en-US" dirty="0" smtClean="0">
                    <a:ea typeface="標楷體" panose="03000509000000000000" pitchFamily="65" charset="-120"/>
                  </a:rPr>
                  <a:t>。</a:t>
                </a:r>
                <a:endParaRPr lang="en-US" altLang="zh-TW" dirty="0">
                  <a:ea typeface="標楷體" panose="03000509000000000000" pitchFamily="65" charset="-120"/>
                </a:endParaRPr>
              </a:p>
              <a:p>
                <a:pPr marL="0" indent="0">
                  <a:buNone/>
                </a:pPr>
                <a:endParaRPr lang="zh-TW" altLang="en-US" dirty="0"/>
              </a:p>
            </p:txBody>
          </p:sp>
        </mc:Choice>
        <mc:Fallback xmlns="">
          <p:sp>
            <p:nvSpPr>
              <p:cNvPr id="4" name="內容版面配置區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217" t="-154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06100-5CED-47FA-97FD-F396D5632AD3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803970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步驟四</a:t>
            </a:r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內容版面配置區 3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lnSpc>
                    <a:spcPct val="100000"/>
                  </a:lnSpc>
                  <a:buNone/>
                </a:pPr>
                <a:r>
                  <a:rPr lang="zh-TW" altLang="en-US" dirty="0" smtClean="0">
                    <a:ea typeface="標楷體" panose="03000509000000000000" pitchFamily="65" charset="-120"/>
                  </a:rPr>
                  <a:t>步驟四：計算在虛無假設為真的情形下，比較檢定統計量和已知機率分布的數值</a:t>
                </a:r>
                <a:endParaRPr lang="en-US" altLang="zh-TW" dirty="0" smtClean="0">
                  <a:ea typeface="標楷體" panose="03000509000000000000" pitchFamily="65" charset="-120"/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altLang="zh-TW" i="1" dirty="0" smtClean="0">
                    <a:ea typeface="標楷體" panose="03000509000000000000" pitchFamily="65" charset="-120"/>
                  </a:rPr>
                  <a:t>p</a:t>
                </a:r>
                <a:r>
                  <a:rPr lang="zh-TW" altLang="en-US" dirty="0" smtClean="0">
                    <a:ea typeface="標楷體" panose="03000509000000000000" pitchFamily="65" charset="-120"/>
                  </a:rPr>
                  <a:t>值</a:t>
                </a:r>
                <a:endParaRPr lang="en-US" altLang="zh-TW" dirty="0" smtClean="0">
                  <a:ea typeface="標楷體" panose="03000509000000000000" pitchFamily="65" charset="-120"/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altLang="zh-TW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TW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𝑣𝑎𝑙𝑢𝑒</m:t>
                      </m:r>
                      <m:r>
                        <a:rPr lang="en-US" altLang="zh-TW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zh-TW" b="0" i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Pr</m:t>
                      </m:r>
                      <m:d>
                        <m:dPr>
                          <m:ctrlPr>
                            <a:rPr lang="en-US" altLang="zh-TW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altLang="zh-TW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≥</m:t>
                          </m:r>
                          <m:r>
                            <a:rPr lang="en-US" altLang="zh-TW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5.01</m:t>
                          </m:r>
                        </m:e>
                        <m:e>
                          <m:r>
                            <a:rPr lang="en-US" altLang="zh-TW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altLang="zh-TW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~</m:t>
                          </m:r>
                          <m:sSub>
                            <m:sSubPr>
                              <m:ctrlPr>
                                <a:rPr lang="en-US" altLang="zh-TW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TW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𝑑𝑓</m:t>
                              </m:r>
                              <m:r>
                                <a:rPr lang="en-US" altLang="zh-TW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=5</m:t>
                              </m:r>
                            </m:sub>
                          </m:sSub>
                        </m:e>
                      </m:d>
                      <m:r>
                        <a:rPr lang="en-US" altLang="zh-TW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×2=0.002×2=0.004</m:t>
                      </m:r>
                    </m:oMath>
                  </m:oMathPara>
                </a14:m>
                <a:endParaRPr lang="en-US" altLang="zh-TW" dirty="0" smtClean="0">
                  <a:solidFill>
                    <a:srgbClr val="0070C0"/>
                  </a:solidFill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zh-TW" altLang="en-US" dirty="0" smtClean="0">
                    <a:latin typeface="標楷體" panose="03000509000000000000" pitchFamily="65" charset="-120"/>
                    <a:ea typeface="標楷體" panose="03000509000000000000" pitchFamily="65" charset="-120"/>
                  </a:rPr>
                  <a:t>信賴區間</a:t>
                </a:r>
                <a:endParaRPr lang="en-US" altLang="zh-TW" dirty="0" smtClean="0">
                  <a:latin typeface="標楷體" panose="03000509000000000000" pitchFamily="65" charset="-120"/>
                  <a:ea typeface="標楷體" panose="03000509000000000000" pitchFamily="65" charset="-120"/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𝐿𝑜𝑤𝑒𝑟</m:t>
                      </m:r>
                      <m:r>
                        <a:rPr lang="en-US" altLang="zh-TW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TW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𝐶𝐼</m:t>
                      </m:r>
                      <m:r>
                        <a:rPr lang="en-US" altLang="zh-TW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en-US" altLang="zh-TW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acc>
                      <m:r>
                        <a:rPr lang="en-US" altLang="zh-TW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altLang="zh-TW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altLang="zh-TW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𝑑𝑓</m:t>
                          </m:r>
                          <m:r>
                            <a:rPr lang="en-US" altLang="zh-TW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=5,0.025</m:t>
                          </m:r>
                        </m:sub>
                      </m:sSub>
                      <m:f>
                        <m:fPr>
                          <m:ctrlPr>
                            <a:rPr lang="en-US" altLang="zh-TW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zh-TW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zh-TW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rad>
                        </m:den>
                      </m:f>
                      <m:r>
                        <a:rPr lang="en-US" altLang="zh-TW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=11.33−2.57</m:t>
                      </m:r>
                      <m:r>
                        <a:rPr lang="en-US" altLang="zh-TW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×2.26=5.52</m:t>
                      </m:r>
                    </m:oMath>
                  </m:oMathPara>
                </a14:m>
                <a:endParaRPr lang="en-US" altLang="zh-TW" dirty="0" smtClean="0">
                  <a:solidFill>
                    <a:srgbClr val="0070C0"/>
                  </a:solidFill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𝑈𝑝𝑝𝑒𝑟</m:t>
                      </m:r>
                      <m:r>
                        <a:rPr lang="en-US" altLang="zh-TW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TW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𝐶𝐼</m:t>
                      </m:r>
                      <m:r>
                        <a:rPr lang="en-US" altLang="zh-TW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en-US" altLang="zh-TW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acc>
                      <m:r>
                        <a:rPr lang="en-US" altLang="zh-TW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TW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altLang="zh-TW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𝑑𝑓</m:t>
                          </m:r>
                          <m:r>
                            <a:rPr lang="en-US" altLang="zh-TW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=5,0.025</m:t>
                          </m:r>
                        </m:sub>
                      </m:sSub>
                      <m:f>
                        <m:fPr>
                          <m:ctrlPr>
                            <a:rPr lang="en-US" altLang="zh-TW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zh-TW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zh-TW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rad>
                        </m:den>
                      </m:f>
                      <m:r>
                        <a:rPr lang="en-US" altLang="zh-TW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=11.33</m:t>
                      </m:r>
                      <m:r>
                        <a:rPr lang="en-US" altLang="zh-TW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2.57</m:t>
                      </m:r>
                      <m:r>
                        <a:rPr lang="en-US" altLang="zh-TW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×2.26=</m:t>
                      </m:r>
                      <m:r>
                        <a:rPr lang="en-US" altLang="zh-TW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17.14</m:t>
                      </m:r>
                    </m:oMath>
                  </m:oMathPara>
                </a14:m>
                <a:endParaRPr lang="zh-TW" altLang="en-US" dirty="0">
                  <a:solidFill>
                    <a:srgbClr val="0070C0"/>
                  </a:solidFill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:endParaRPr lang="zh-TW" altLang="en-US" dirty="0">
                  <a:solidFill>
                    <a:srgbClr val="FF0000"/>
                  </a:solidFill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:endParaRPr lang="zh-TW" alt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" name="內容版面配置區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217" t="-1401" r="-98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06100-5CED-47FA-97FD-F396D5632AD3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048888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步驟五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lnSpc>
                    <a:spcPct val="100000"/>
                  </a:lnSpc>
                  <a:buNone/>
                </a:pPr>
                <a:r>
                  <a:rPr lang="zh-TW" altLang="en-US" dirty="0" smtClean="0">
                    <a:ea typeface="標楷體" panose="03000509000000000000" pitchFamily="65" charset="-120"/>
                  </a:rPr>
                  <a:t>步驟五：根據顯著水準和拒絕區域來解釋</a:t>
                </a:r>
                <a:r>
                  <a:rPr lang="en-US" altLang="zh-TW" i="1" dirty="0">
                    <a:ea typeface="標楷體" panose="03000509000000000000" pitchFamily="65" charset="-120"/>
                  </a:rPr>
                  <a:t>p</a:t>
                </a:r>
                <a:r>
                  <a:rPr lang="zh-TW" altLang="en-US" dirty="0">
                    <a:ea typeface="標楷體" panose="03000509000000000000" pitchFamily="65" charset="-120"/>
                  </a:rPr>
                  <a:t>值及其</a:t>
                </a:r>
                <a:r>
                  <a:rPr lang="zh-TW" altLang="en-US" dirty="0" smtClean="0">
                    <a:ea typeface="標楷體" panose="03000509000000000000" pitchFamily="65" charset="-120"/>
                  </a:rPr>
                  <a:t>結果</a:t>
                </a:r>
                <a:endParaRPr lang="en-US" altLang="zh-TW" dirty="0" smtClean="0">
                  <a:ea typeface="標楷體" panose="03000509000000000000" pitchFamily="65" charset="-120"/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zh-TW" altLang="en-US" dirty="0" smtClean="0">
                    <a:ea typeface="標楷體" panose="03000509000000000000" pitchFamily="65" charset="-120"/>
                  </a:rPr>
                  <a:t>檢定統計量落在拒絕區域</a:t>
                </a:r>
                <a:endParaRPr lang="en-US" altLang="zh-TW" dirty="0" smtClean="0">
                  <a:ea typeface="標楷體" panose="03000509000000000000" pitchFamily="65" charset="-120"/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標楷體" panose="03000509000000000000" pitchFamily="65" charset="-120"/>
                        </a:rPr>
                        <m:t>𝑇</m:t>
                      </m:r>
                      <m:r>
                        <a:rPr lang="en-US" altLang="zh-TW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標楷體" panose="03000509000000000000" pitchFamily="65" charset="-120"/>
                        </a:rPr>
                        <m:t>=5.01&gt;2.57=</m:t>
                      </m:r>
                      <m:sSub>
                        <m:sSubPr>
                          <m:ctrlPr>
                            <a:rPr lang="en-US" altLang="zh-TW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標楷體" panose="03000509000000000000" pitchFamily="65" charset="-120"/>
                            </a:rPr>
                          </m:ctrlPr>
                        </m:sSubPr>
                        <m:e>
                          <m:r>
                            <a:rPr lang="en-US" altLang="zh-TW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標楷體" panose="03000509000000000000" pitchFamily="65" charset="-120"/>
                            </a:rPr>
                            <m:t>𝑡</m:t>
                          </m:r>
                        </m:e>
                        <m:sub>
                          <m:r>
                            <a:rPr lang="en-US" altLang="zh-TW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標楷體" panose="03000509000000000000" pitchFamily="65" charset="-120"/>
                            </a:rPr>
                            <m:t>𝑑𝑓</m:t>
                          </m:r>
                          <m:r>
                            <a:rPr lang="en-US" altLang="zh-TW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標楷體" panose="03000509000000000000" pitchFamily="65" charset="-120"/>
                            </a:rPr>
                            <m:t>=5,0.025</m:t>
                          </m:r>
                        </m:sub>
                      </m:sSub>
                    </m:oMath>
                  </m:oMathPara>
                </a14:m>
                <a:endParaRPr lang="en-US" altLang="zh-TW" dirty="0" smtClean="0">
                  <a:ea typeface="標楷體" panose="03000509000000000000" pitchFamily="65" charset="-120"/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altLang="zh-TW" i="1" dirty="0">
                    <a:ea typeface="標楷體" panose="03000509000000000000" pitchFamily="65" charset="-120"/>
                  </a:rPr>
                  <a:t>p</a:t>
                </a:r>
                <a:r>
                  <a:rPr lang="zh-TW" altLang="en-US" dirty="0" smtClean="0">
                    <a:ea typeface="標楷體" panose="03000509000000000000" pitchFamily="65" charset="-120"/>
                  </a:rPr>
                  <a:t>值小於顯著水準</a:t>
                </a:r>
                <a:endParaRPr lang="en-US" altLang="zh-TW" dirty="0">
                  <a:ea typeface="標楷體" panose="03000509000000000000" pitchFamily="65" charset="-120"/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altLang="zh-TW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TW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𝑣𝑎𝑙𝑢𝑒</m:t>
                      </m:r>
                      <m:r>
                        <a:rPr lang="en-US" altLang="zh-TW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=0.004&lt;0.05</m:t>
                      </m:r>
                    </m:oMath>
                  </m:oMathPara>
                </a14:m>
                <a:endParaRPr lang="zh-TW" altLang="en-US" dirty="0">
                  <a:solidFill>
                    <a:srgbClr val="0070C0"/>
                  </a:solidFill>
                </a:endParaRPr>
              </a:p>
              <a:p>
                <a:pPr marL="0" indent="0">
                  <a:buNone/>
                </a:pPr>
                <a:r>
                  <a:rPr lang="zh-TW" altLang="en-US" dirty="0" smtClean="0">
                    <a:ea typeface="標楷體" panose="03000509000000000000" pitchFamily="65" charset="-120"/>
                  </a:rPr>
                  <a:t>信賴區間不包含</a:t>
                </a:r>
                <a:r>
                  <a:rPr lang="en-US" altLang="zh-TW" dirty="0" smtClean="0">
                    <a:ea typeface="標楷體" panose="03000509000000000000" pitchFamily="65" charset="-120"/>
                  </a:rPr>
                  <a:t>0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i="1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9</m:t>
                      </m:r>
                      <m:r>
                        <a:rPr lang="en-US" altLang="zh-TW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US" altLang="zh-TW" i="1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%</m:t>
                      </m:r>
                      <m:r>
                        <a:rPr lang="en-US" altLang="zh-TW" b="0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TW" b="0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𝐶𝐼</m:t>
                      </m:r>
                      <m:r>
                        <a:rPr lang="en-US" altLang="zh-TW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TW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5.52, 17.14</m:t>
                          </m:r>
                        </m:e>
                      </m:d>
                    </m:oMath>
                  </m:oMathPara>
                </a14:m>
                <a:endParaRPr lang="zh-TW" altLang="en-US" dirty="0">
                  <a:solidFill>
                    <a:srgbClr val="0070C0"/>
                  </a:solidFill>
                </a:endParaRPr>
              </a:p>
              <a:p>
                <a:pPr marL="0" indent="0">
                  <a:buNone/>
                </a:pPr>
                <a:r>
                  <a:rPr lang="zh-TW" altLang="en-US" dirty="0" smtClean="0">
                    <a:ea typeface="標楷體" panose="03000509000000000000" pitchFamily="65" charset="-120"/>
                  </a:rPr>
                  <a:t>結論：在顯著水準</a:t>
                </a:r>
                <a:r>
                  <a:rPr lang="en-US" altLang="zh-TW" dirty="0" smtClean="0">
                    <a:ea typeface="標楷體" panose="03000509000000000000" pitchFamily="65" charset="-120"/>
                  </a:rPr>
                  <a:t>0.05</a:t>
                </a:r>
                <a:r>
                  <a:rPr lang="zh-TW" altLang="en-US" dirty="0" smtClean="0">
                    <a:ea typeface="標楷體" panose="03000509000000000000" pitchFamily="65" charset="-120"/>
                  </a:rPr>
                  <a:t>下，拒絕虛無假設，新降血壓藥能有效改變血壓。</a:t>
                </a:r>
                <a:endParaRPr lang="zh-TW" altLang="en-US" dirty="0">
                  <a:ea typeface="標楷體" panose="03000509000000000000" pitchFamily="65" charset="-120"/>
                </a:endParaRPr>
              </a:p>
              <a:p>
                <a:pPr marL="0" indent="0">
                  <a:buNone/>
                </a:pPr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217" t="-1541" b="-266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06100-5CED-47FA-97FD-F396D5632AD3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972062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161192" y="180487"/>
            <a:ext cx="11849099" cy="857005"/>
          </a:xfrm>
        </p:spPr>
        <p:txBody>
          <a:bodyPr/>
          <a:lstStyle/>
          <a:p>
            <a:pPr algn="ctr"/>
            <a:r>
              <a:rPr lang="zh-TW" altLang="en-US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雙尾檢定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5A20A-F7E8-4753-AF4B-C3CF6A92C889}" type="slidenum">
              <a:rPr lang="zh-TW" altLang="en-US" smtClean="0"/>
              <a:t>9</a:t>
            </a:fld>
            <a:endParaRPr lang="zh-TW" altLang="en-US"/>
          </a:p>
        </p:txBody>
      </p:sp>
      <p:sp>
        <p:nvSpPr>
          <p:cNvPr id="6" name="文字方塊 5"/>
          <p:cNvSpPr txBox="1"/>
          <p:nvPr/>
        </p:nvSpPr>
        <p:spPr>
          <a:xfrm>
            <a:off x="941874" y="1274884"/>
            <a:ext cx="6109555" cy="9048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0000"/>
              </a:lnSpc>
            </a:pP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請問新降血壓藥是否能有效地改變血壓</a:t>
            </a:r>
            <a:r>
              <a:rPr lang="zh-TW" altLang="en-US" sz="24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？</a:t>
            </a:r>
            <a:endParaRPr lang="en-US" altLang="zh-TW" sz="2400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>
              <a:lnSpc>
                <a:spcPct val="110000"/>
              </a:lnSpc>
            </a:pPr>
            <a:r>
              <a:rPr lang="zh-TW" altLang="en-US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輸入算式執行</a:t>
            </a:r>
            <a:r>
              <a:rPr lang="en-US" altLang="zh-TW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</a:t>
            </a:r>
            <a:r>
              <a:rPr lang="zh-TW" altLang="en-US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檢定</a:t>
            </a:r>
            <a:endParaRPr lang="en-US" altLang="zh-TW" sz="2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10" name="圖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4328" y="2348617"/>
            <a:ext cx="6764515" cy="3726865"/>
          </a:xfrm>
          <a:prstGeom prst="rect">
            <a:avLst/>
          </a:prstGeom>
        </p:spPr>
      </p:pic>
      <p:pic>
        <p:nvPicPr>
          <p:cNvPr id="11" name="圖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8864" y="2348617"/>
            <a:ext cx="1918893" cy="3726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48730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161192" y="180487"/>
            <a:ext cx="11849099" cy="857005"/>
          </a:xfrm>
        </p:spPr>
        <p:txBody>
          <a:bodyPr/>
          <a:lstStyle/>
          <a:p>
            <a:pPr algn="ctr"/>
            <a:r>
              <a:rPr lang="en-US" altLang="zh-TW" dirty="0" err="1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t.test</a:t>
            </a:r>
            <a:r>
              <a:rPr lang="en-US" altLang="zh-TW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(one sample)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5A20A-F7E8-4753-AF4B-C3CF6A92C889}" type="slidenum">
              <a:rPr lang="zh-TW" altLang="en-US" smtClean="0"/>
              <a:t>10</a:t>
            </a:fld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字方塊 5"/>
              <p:cNvSpPr txBox="1"/>
              <p:nvPr/>
            </p:nvSpPr>
            <p:spPr>
              <a:xfrm>
                <a:off x="407011" y="1208940"/>
                <a:ext cx="5650889" cy="13111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10000"/>
                  </a:lnSpc>
                </a:pPr>
                <a:r>
                  <a:rPr lang="zh-TW" altLang="en-US" sz="2400" dirty="0">
                    <a:latin typeface="標楷體" panose="03000509000000000000" pitchFamily="65" charset="-120"/>
                    <a:ea typeface="標楷體" panose="03000509000000000000" pitchFamily="65" charset="-120"/>
                  </a:rPr>
                  <a:t>請問新降血壓藥是否能有效地改變血壓？</a:t>
                </a:r>
                <a:endParaRPr lang="en-US" altLang="zh-TW" sz="2400" dirty="0">
                  <a:latin typeface="標楷體" panose="03000509000000000000" pitchFamily="65" charset="-120"/>
                  <a:ea typeface="標楷體" panose="03000509000000000000" pitchFamily="65" charset="-120"/>
                </a:endParaRPr>
              </a:p>
              <a:p>
                <a:pPr>
                  <a:lnSpc>
                    <a:spcPct val="110000"/>
                  </a:lnSpc>
                </a:pPr>
                <a:r>
                  <a:rPr lang="zh-TW" altLang="en-US" sz="2400" dirty="0">
                    <a:latin typeface="標楷體" panose="03000509000000000000" pitchFamily="65" charset="-120"/>
                    <a:ea typeface="標楷體" panose="03000509000000000000" pitchFamily="65" charset="-120"/>
                  </a:rPr>
                  <a:t>令</a:t>
                </a:r>
                <a14:m>
                  <m:oMath xmlns:m="http://schemas.openxmlformats.org/officeDocument/2006/math">
                    <m:r>
                      <a:rPr lang="zh-TW" altLang="en-US" sz="2400" i="1">
                        <a:latin typeface="Cambria Math" panose="02040503050406030204" pitchFamily="18" charset="0"/>
                        <a:ea typeface="標楷體" panose="03000509000000000000" pitchFamily="65" charset="-120"/>
                      </a:rPr>
                      <m:t>𝜇</m:t>
                    </m:r>
                  </m:oMath>
                </a14:m>
                <a:r>
                  <a:rPr lang="zh-TW" altLang="en-US" sz="2400" dirty="0">
                    <a:latin typeface="標楷體" panose="03000509000000000000" pitchFamily="65" charset="-120"/>
                    <a:ea typeface="標楷體" panose="03000509000000000000" pitchFamily="65" charset="-120"/>
                  </a:rPr>
                  <a:t>為血壓的變化量</a:t>
                </a:r>
                <a:endParaRPr lang="en-US" altLang="zh-TW" sz="2400" dirty="0">
                  <a:latin typeface="標楷體" panose="03000509000000000000" pitchFamily="65" charset="-120"/>
                  <a:ea typeface="標楷體" panose="03000509000000000000" pitchFamily="65" charset="-120"/>
                </a:endParaRPr>
              </a:p>
              <a:p>
                <a:pPr>
                  <a:lnSpc>
                    <a:spcPct val="110000"/>
                  </a:lnSpc>
                </a:pPr>
                <a:r>
                  <a:rPr lang="zh-TW" altLang="en-US" sz="2400" dirty="0">
                    <a:solidFill>
                      <a:srgbClr val="FF0000"/>
                    </a:solidFill>
                    <a:ea typeface="標楷體" panose="03000509000000000000" pitchFamily="65" charset="-120"/>
                  </a:rPr>
                  <a:t>　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標楷體" panose="03000509000000000000" pitchFamily="65" charset="-120"/>
                          </a:rPr>
                        </m:ctrlPr>
                      </m:sSubPr>
                      <m:e>
                        <m:r>
                          <a:rPr lang="en-US" altLang="zh-TW" sz="24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標楷體" panose="03000509000000000000" pitchFamily="65" charset="-120"/>
                          </a:rPr>
                          <m:t>𝐻</m:t>
                        </m:r>
                      </m:e>
                      <m:sub>
                        <m:r>
                          <a:rPr lang="en-US" altLang="zh-TW" sz="24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標楷體" panose="03000509000000000000" pitchFamily="65" charset="-120"/>
                          </a:rPr>
                          <m:t>0</m:t>
                        </m:r>
                      </m:sub>
                    </m:sSub>
                    <m:r>
                      <a:rPr lang="en-US" altLang="zh-TW" sz="2400" i="1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標楷體" panose="03000509000000000000" pitchFamily="65" charset="-120"/>
                      </a:rPr>
                      <m:t>:</m:t>
                    </m:r>
                    <m:r>
                      <a:rPr lang="zh-TW" altLang="en-US" sz="2400" i="1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標楷體" panose="03000509000000000000" pitchFamily="65" charset="-120"/>
                      </a:rPr>
                      <m:t>𝜇</m:t>
                    </m:r>
                    <m:r>
                      <a:rPr lang="en-US" altLang="zh-TW" sz="2400" i="1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zh-TW" altLang="en-US" sz="2400" i="1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標楷體" panose="03000509000000000000" pitchFamily="65" charset="-120"/>
                      </a:rPr>
                      <m:t>0</m:t>
                    </m:r>
                    <m:r>
                      <a:rPr lang="en-US" altLang="zh-TW" sz="2400" i="1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標楷體" panose="03000509000000000000" pitchFamily="65" charset="-120"/>
                      </a:rPr>
                      <m:t> </m:t>
                    </m:r>
                    <m:r>
                      <a:rPr lang="en-US" altLang="zh-TW" sz="2400" i="1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標楷體" panose="03000509000000000000" pitchFamily="65" charset="-120"/>
                      </a:rPr>
                      <m:t>𝑣𝑠</m:t>
                    </m:r>
                    <m:r>
                      <a:rPr lang="en-US" altLang="zh-TW" sz="2400" i="1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標楷體" panose="03000509000000000000" pitchFamily="65" charset="-120"/>
                      </a:rPr>
                      <m:t>.</m:t>
                    </m:r>
                    <m:sSub>
                      <m:sSubPr>
                        <m:ctrlPr>
                          <a:rPr lang="en-US" altLang="zh-TW" sz="24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標楷體" panose="03000509000000000000" pitchFamily="65" charset="-120"/>
                          </a:rPr>
                        </m:ctrlPr>
                      </m:sSubPr>
                      <m:e>
                        <m:r>
                          <a:rPr lang="en-US" altLang="zh-TW" sz="24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標楷體" panose="03000509000000000000" pitchFamily="65" charset="-120"/>
                          </a:rPr>
                          <m:t>𝐻</m:t>
                        </m:r>
                      </m:e>
                      <m:sub>
                        <m:r>
                          <a:rPr lang="en-US" altLang="zh-TW" sz="24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標楷體" panose="03000509000000000000" pitchFamily="65" charset="-120"/>
                          </a:rPr>
                          <m:t>1</m:t>
                        </m:r>
                      </m:sub>
                    </m:sSub>
                    <m:r>
                      <a:rPr lang="en-US" altLang="zh-TW" sz="2400" i="1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標楷體" panose="03000509000000000000" pitchFamily="65" charset="-120"/>
                      </a:rPr>
                      <m:t>:</m:t>
                    </m:r>
                    <m:r>
                      <a:rPr lang="zh-TW" altLang="en-US" sz="2400" i="1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標楷體" panose="03000509000000000000" pitchFamily="65" charset="-120"/>
                      </a:rPr>
                      <m:t>𝜇</m:t>
                    </m:r>
                    <m:r>
                      <a:rPr lang="zh-TW" altLang="en-US" sz="2400" i="1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標楷體" panose="03000509000000000000" pitchFamily="65" charset="-120"/>
                      </a:rPr>
                      <m:t>≠0</m:t>
                    </m:r>
                  </m:oMath>
                </a14:m>
                <a:endParaRPr lang="en-US" altLang="zh-TW" sz="2400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文字方塊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7011" y="1208940"/>
                <a:ext cx="5650889" cy="1311128"/>
              </a:xfrm>
              <a:prstGeom prst="rect">
                <a:avLst/>
              </a:prstGeom>
              <a:blipFill>
                <a:blip r:embed="rId2"/>
                <a:stretch>
                  <a:fillRect l="-1726" t="-2791" r="-1942" b="-93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字方塊 9"/>
              <p:cNvSpPr txBox="1"/>
              <p:nvPr/>
            </p:nvSpPr>
            <p:spPr>
              <a:xfrm>
                <a:off x="6151318" y="1208940"/>
                <a:ext cx="5650889" cy="13111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10000"/>
                  </a:lnSpc>
                </a:pPr>
                <a:r>
                  <a:rPr lang="zh-TW" altLang="en-US" sz="2400" dirty="0" smtClean="0">
                    <a:latin typeface="標楷體" panose="03000509000000000000" pitchFamily="65" charset="-120"/>
                    <a:ea typeface="標楷體" panose="03000509000000000000" pitchFamily="65" charset="-120"/>
                  </a:rPr>
                  <a:t>請問新降血壓藥是否能有效地降低血壓</a:t>
                </a:r>
                <a:r>
                  <a:rPr lang="zh-TW" altLang="en-US" sz="2400" dirty="0">
                    <a:latin typeface="標楷體" panose="03000509000000000000" pitchFamily="65" charset="-120"/>
                    <a:ea typeface="標楷體" panose="03000509000000000000" pitchFamily="65" charset="-120"/>
                  </a:rPr>
                  <a:t>？</a:t>
                </a:r>
                <a:endParaRPr lang="en-US" altLang="zh-TW" sz="2400" dirty="0">
                  <a:latin typeface="標楷體" panose="03000509000000000000" pitchFamily="65" charset="-120"/>
                  <a:ea typeface="標楷體" panose="03000509000000000000" pitchFamily="65" charset="-120"/>
                </a:endParaRPr>
              </a:p>
              <a:p>
                <a:pPr>
                  <a:lnSpc>
                    <a:spcPct val="110000"/>
                  </a:lnSpc>
                </a:pPr>
                <a:r>
                  <a:rPr lang="zh-TW" altLang="en-US" sz="2400" dirty="0">
                    <a:latin typeface="標楷體" panose="03000509000000000000" pitchFamily="65" charset="-120"/>
                    <a:ea typeface="標楷體" panose="03000509000000000000" pitchFamily="65" charset="-120"/>
                  </a:rPr>
                  <a:t>令</a:t>
                </a:r>
                <a14:m>
                  <m:oMath xmlns:m="http://schemas.openxmlformats.org/officeDocument/2006/math">
                    <m:r>
                      <a:rPr lang="zh-TW" altLang="en-US" sz="2400" i="1">
                        <a:latin typeface="Cambria Math" panose="02040503050406030204" pitchFamily="18" charset="0"/>
                        <a:ea typeface="標楷體" panose="03000509000000000000" pitchFamily="65" charset="-120"/>
                      </a:rPr>
                      <m:t>𝜇</m:t>
                    </m:r>
                  </m:oMath>
                </a14:m>
                <a:r>
                  <a:rPr lang="zh-TW" altLang="en-US" sz="2400" dirty="0">
                    <a:latin typeface="標楷體" panose="03000509000000000000" pitchFamily="65" charset="-120"/>
                    <a:ea typeface="標楷體" panose="03000509000000000000" pitchFamily="65" charset="-120"/>
                  </a:rPr>
                  <a:t>為血壓的變化量</a:t>
                </a:r>
                <a:endParaRPr lang="en-US" altLang="zh-TW" sz="2400" dirty="0">
                  <a:latin typeface="標楷體" panose="03000509000000000000" pitchFamily="65" charset="-120"/>
                  <a:ea typeface="標楷體" panose="03000509000000000000" pitchFamily="65" charset="-120"/>
                </a:endParaRPr>
              </a:p>
              <a:p>
                <a:pPr>
                  <a:lnSpc>
                    <a:spcPct val="110000"/>
                  </a:lnSpc>
                </a:pPr>
                <a:r>
                  <a:rPr lang="zh-TW" altLang="en-US" sz="2400" dirty="0">
                    <a:solidFill>
                      <a:srgbClr val="FF0000"/>
                    </a:solidFill>
                    <a:ea typeface="標楷體" panose="03000509000000000000" pitchFamily="65" charset="-120"/>
                  </a:rPr>
                  <a:t>　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標楷體" panose="03000509000000000000" pitchFamily="65" charset="-120"/>
                          </a:rPr>
                        </m:ctrlPr>
                      </m:sSubPr>
                      <m:e>
                        <m:r>
                          <a:rPr lang="en-US" altLang="zh-TW" sz="24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標楷體" panose="03000509000000000000" pitchFamily="65" charset="-120"/>
                          </a:rPr>
                          <m:t>𝐻</m:t>
                        </m:r>
                      </m:e>
                      <m:sub>
                        <m:r>
                          <a:rPr lang="en-US" altLang="zh-TW" sz="24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標楷體" panose="03000509000000000000" pitchFamily="65" charset="-120"/>
                          </a:rPr>
                          <m:t>0</m:t>
                        </m:r>
                      </m:sub>
                    </m:sSub>
                    <m:r>
                      <a:rPr lang="en-US" altLang="zh-TW" sz="2400" i="1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標楷體" panose="03000509000000000000" pitchFamily="65" charset="-120"/>
                      </a:rPr>
                      <m:t>:</m:t>
                    </m:r>
                    <m:r>
                      <a:rPr lang="zh-TW" altLang="en-US" sz="2400" i="1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標楷體" panose="03000509000000000000" pitchFamily="65" charset="-120"/>
                      </a:rPr>
                      <m:t>𝜇</m:t>
                    </m:r>
                    <m:r>
                      <a:rPr lang="en-US" altLang="zh-TW" sz="2400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zh-TW" altLang="en-US" sz="2400" i="1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標楷體" panose="03000509000000000000" pitchFamily="65" charset="-120"/>
                      </a:rPr>
                      <m:t>0</m:t>
                    </m:r>
                    <m:r>
                      <a:rPr lang="en-US" altLang="zh-TW" sz="2400" i="1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標楷體" panose="03000509000000000000" pitchFamily="65" charset="-120"/>
                      </a:rPr>
                      <m:t> </m:t>
                    </m:r>
                    <m:r>
                      <a:rPr lang="en-US" altLang="zh-TW" sz="2400" i="1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標楷體" panose="03000509000000000000" pitchFamily="65" charset="-120"/>
                      </a:rPr>
                      <m:t>𝑣𝑠</m:t>
                    </m:r>
                    <m:r>
                      <a:rPr lang="en-US" altLang="zh-TW" sz="2400" i="1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標楷體" panose="03000509000000000000" pitchFamily="65" charset="-120"/>
                      </a:rPr>
                      <m:t>.</m:t>
                    </m:r>
                    <m:sSub>
                      <m:sSubPr>
                        <m:ctrlPr>
                          <a:rPr lang="en-US" altLang="zh-TW" sz="24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標楷體" panose="03000509000000000000" pitchFamily="65" charset="-120"/>
                          </a:rPr>
                        </m:ctrlPr>
                      </m:sSubPr>
                      <m:e>
                        <m:r>
                          <a:rPr lang="en-US" altLang="zh-TW" sz="24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標楷體" panose="03000509000000000000" pitchFamily="65" charset="-120"/>
                          </a:rPr>
                          <m:t>𝐻</m:t>
                        </m:r>
                      </m:e>
                      <m:sub>
                        <m:r>
                          <a:rPr lang="en-US" altLang="zh-TW" sz="24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標楷體" panose="03000509000000000000" pitchFamily="65" charset="-120"/>
                          </a:rPr>
                          <m:t>1</m:t>
                        </m:r>
                      </m:sub>
                    </m:sSub>
                    <m:r>
                      <a:rPr lang="en-US" altLang="zh-TW" sz="2400" i="1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標楷體" panose="03000509000000000000" pitchFamily="65" charset="-120"/>
                      </a:rPr>
                      <m:t>:</m:t>
                    </m:r>
                    <m:r>
                      <a:rPr lang="zh-TW" altLang="en-US" sz="2400" i="1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標楷體" panose="03000509000000000000" pitchFamily="65" charset="-120"/>
                      </a:rPr>
                      <m:t>𝜇</m:t>
                    </m:r>
                    <m:r>
                      <a:rPr lang="en-US" altLang="zh-TW" sz="24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標楷體" panose="03000509000000000000" pitchFamily="65" charset="-120"/>
                      </a:rPr>
                      <m:t>&gt;</m:t>
                    </m:r>
                    <m:r>
                      <a:rPr lang="zh-TW" altLang="en-US" sz="2400" i="1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標楷體" panose="03000509000000000000" pitchFamily="65" charset="-120"/>
                      </a:rPr>
                      <m:t>0</m:t>
                    </m:r>
                  </m:oMath>
                </a14:m>
                <a:endParaRPr lang="en-US" altLang="zh-TW" sz="2400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" name="文字方塊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51318" y="1208940"/>
                <a:ext cx="5650889" cy="1311128"/>
              </a:xfrm>
              <a:prstGeom prst="rect">
                <a:avLst/>
              </a:prstGeom>
              <a:blipFill>
                <a:blip r:embed="rId3"/>
                <a:stretch>
                  <a:fillRect l="-1618" t="-2791" r="-2050" b="-93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文字方塊 10"/>
          <p:cNvSpPr txBox="1"/>
          <p:nvPr/>
        </p:nvSpPr>
        <p:spPr>
          <a:xfrm>
            <a:off x="596593" y="5494443"/>
            <a:ext cx="10978295" cy="9048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0000"/>
              </a:lnSpc>
            </a:pPr>
            <a:r>
              <a:rPr lang="zh-TW" altLang="en-US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單一樣本</a:t>
            </a:r>
            <a:r>
              <a:rPr lang="en-US" altLang="zh-TW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</a:t>
            </a:r>
            <a:r>
              <a:rPr lang="zh-TW" altLang="en-US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檢定：</a:t>
            </a:r>
            <a:r>
              <a:rPr lang="en-US" altLang="zh-TW" sz="2400" dirty="0" err="1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t.test</a:t>
            </a:r>
            <a:r>
              <a:rPr lang="en-US" altLang="zh-TW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zh-TW" altLang="en-US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數值</a:t>
            </a:r>
            <a:r>
              <a:rPr lang="en-US" altLang="zh-TW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, mu=0, alternative=c(“</a:t>
            </a:r>
            <a:r>
              <a:rPr lang="en-US" altLang="zh-TW" sz="2400" dirty="0" err="1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two.sided</a:t>
            </a:r>
            <a:r>
              <a:rPr lang="en-US" altLang="zh-TW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”, “less”, “greater”))</a:t>
            </a:r>
          </a:p>
          <a:p>
            <a:pPr>
              <a:lnSpc>
                <a:spcPct val="110000"/>
              </a:lnSpc>
            </a:pPr>
            <a:r>
              <a:rPr lang="en-US" altLang="zh-TW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mu=0 </a:t>
            </a:r>
            <a:r>
              <a:rPr lang="zh-TW" altLang="en-US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檢定是否為</a:t>
            </a:r>
            <a:r>
              <a:rPr lang="en-US" altLang="zh-TW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0</a:t>
            </a:r>
            <a:r>
              <a:rPr lang="zh-TW" altLang="en-US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，可修改；</a:t>
            </a:r>
            <a:r>
              <a:rPr lang="en-US" altLang="zh-TW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alternative</a:t>
            </a:r>
            <a:r>
              <a:rPr lang="zh-TW" altLang="en-US" sz="2400" dirty="0" smtClean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依次為雙尾檢定</a:t>
            </a:r>
            <a:r>
              <a:rPr lang="zh-TW" altLang="zh-TW" sz="24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、</a:t>
            </a:r>
            <a:r>
              <a:rPr lang="zh-TW" altLang="en-US" sz="24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左尾檢定</a:t>
            </a:r>
            <a:r>
              <a:rPr lang="zh-TW" altLang="zh-TW" sz="24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、</a:t>
            </a:r>
            <a:r>
              <a:rPr lang="zh-TW" altLang="en-US" sz="24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右尾檢定。</a:t>
            </a:r>
            <a:endParaRPr lang="en-US" altLang="zh-TW" sz="2400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7011" y="2706905"/>
            <a:ext cx="5476875" cy="2476500"/>
          </a:xfrm>
          <a:prstGeom prst="rect">
            <a:avLst/>
          </a:prstGeom>
        </p:spPr>
      </p:pic>
      <p:pic>
        <p:nvPicPr>
          <p:cNvPr id="12" name="圖片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51318" y="2706905"/>
            <a:ext cx="5410200" cy="2466975"/>
          </a:xfrm>
          <a:prstGeom prst="rect">
            <a:avLst/>
          </a:prstGeom>
        </p:spPr>
      </p:pic>
      <p:cxnSp>
        <p:nvCxnSpPr>
          <p:cNvPr id="14" name="直線接點 13"/>
          <p:cNvCxnSpPr/>
          <p:nvPr/>
        </p:nvCxnSpPr>
        <p:spPr>
          <a:xfrm flipV="1">
            <a:off x="2391508" y="3922806"/>
            <a:ext cx="2057400" cy="17586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接點 15"/>
          <p:cNvCxnSpPr/>
          <p:nvPr/>
        </p:nvCxnSpPr>
        <p:spPr>
          <a:xfrm flipV="1">
            <a:off x="8039101" y="3897016"/>
            <a:ext cx="2057400" cy="17586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接點 16"/>
          <p:cNvCxnSpPr/>
          <p:nvPr/>
        </p:nvCxnSpPr>
        <p:spPr>
          <a:xfrm flipV="1">
            <a:off x="583223" y="4535519"/>
            <a:ext cx="2057400" cy="17586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555092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161192" y="180487"/>
            <a:ext cx="11849099" cy="857005"/>
          </a:xfrm>
        </p:spPr>
        <p:txBody>
          <a:bodyPr/>
          <a:lstStyle/>
          <a:p>
            <a:pPr algn="ctr"/>
            <a:r>
              <a:rPr lang="zh-TW" altLang="en-US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查表函數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5A20A-F7E8-4753-AF4B-C3CF6A92C889}" type="slidenum">
              <a:rPr lang="zh-TW" altLang="en-US" smtClean="0"/>
              <a:t>11</a:t>
            </a:fld>
            <a:endParaRPr lang="zh-TW" altLang="en-US"/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444" y="3874233"/>
            <a:ext cx="4799337" cy="2275742"/>
          </a:xfrm>
          <a:prstGeom prst="rect">
            <a:avLst/>
          </a:prstGeom>
        </p:spPr>
      </p:pic>
      <p:pic>
        <p:nvPicPr>
          <p:cNvPr id="6" name="圖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444" y="1340827"/>
            <a:ext cx="7495947" cy="2224454"/>
          </a:xfrm>
          <a:prstGeom prst="rect">
            <a:avLst/>
          </a:prstGeom>
        </p:spPr>
      </p:pic>
      <p:sp>
        <p:nvSpPr>
          <p:cNvPr id="11" name="文字方塊 10"/>
          <p:cNvSpPr txBox="1"/>
          <p:nvPr/>
        </p:nvSpPr>
        <p:spPr>
          <a:xfrm>
            <a:off x="5646124" y="3879851"/>
            <a:ext cx="636416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dnorm()</a:t>
            </a:r>
            <a:r>
              <a:rPr lang="zh-TW" altLang="en-US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：機率密度</a:t>
            </a:r>
            <a:endParaRPr lang="en-US" altLang="zh-TW" sz="2400" dirty="0" smtClean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en-US" altLang="zh-TW" sz="2400" dirty="0" err="1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pnorm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()</a:t>
            </a:r>
            <a:r>
              <a:rPr lang="zh-TW" altLang="en-US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：對應值查累積機率</a:t>
            </a:r>
            <a:endParaRPr lang="en-US" altLang="zh-TW" sz="2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en-US" altLang="zh-TW" sz="2400" dirty="0" err="1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qnorm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()</a:t>
            </a:r>
            <a:r>
              <a:rPr lang="zh-TW" altLang="en-US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：累積機率查對應值</a:t>
            </a:r>
            <a:endParaRPr lang="en-US" altLang="zh-TW" sz="2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en-US" altLang="zh-TW" sz="2400" dirty="0" err="1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rnorm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()</a:t>
            </a:r>
            <a:r>
              <a:rPr lang="zh-TW" altLang="en-US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：產生隨機變數</a:t>
            </a:r>
            <a:endParaRPr lang="en-US" altLang="zh-TW" sz="2400" dirty="0" smtClean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en-US" altLang="zh-TW" sz="2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en-US" altLang="zh-TW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norm</a:t>
            </a:r>
            <a:r>
              <a:rPr lang="zh-TW" altLang="en-US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為常態分布，尚有</a:t>
            </a:r>
            <a:r>
              <a:rPr lang="en-US" altLang="zh-TW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t, f, </a:t>
            </a:r>
            <a:r>
              <a:rPr lang="en-US" altLang="zh-TW" sz="2400" dirty="0" err="1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chisq</a:t>
            </a:r>
            <a:r>
              <a:rPr lang="zh-TW" altLang="en-US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等等不同分布。</a:t>
            </a:r>
            <a:endParaRPr lang="en-US" altLang="zh-TW" sz="2400" dirty="0" smtClean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81795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161192" y="180487"/>
            <a:ext cx="11849099" cy="857005"/>
          </a:xfrm>
        </p:spPr>
        <p:txBody>
          <a:bodyPr/>
          <a:lstStyle/>
          <a:p>
            <a:pPr algn="ctr"/>
            <a:r>
              <a:rPr lang="zh-TW" altLang="en-US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查表函數的應用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5A20A-F7E8-4753-AF4B-C3CF6A92C889}" type="slidenum">
              <a:rPr lang="zh-TW" altLang="en-US" smtClean="0"/>
              <a:t>12</a:t>
            </a:fld>
            <a:endParaRPr lang="zh-TW" altLang="en-US"/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813" y="1358977"/>
            <a:ext cx="5083293" cy="496200"/>
          </a:xfrm>
          <a:prstGeom prst="rect">
            <a:avLst/>
          </a:prstGeom>
        </p:spPr>
      </p:pic>
      <p:pic>
        <p:nvPicPr>
          <p:cNvPr id="6" name="圖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813" y="2563114"/>
            <a:ext cx="4872779" cy="3357098"/>
          </a:xfrm>
          <a:prstGeom prst="rect">
            <a:avLst/>
          </a:prstGeom>
        </p:spPr>
      </p:pic>
      <p:pic>
        <p:nvPicPr>
          <p:cNvPr id="8" name="圖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7504" y="1358977"/>
            <a:ext cx="3230073" cy="492316"/>
          </a:xfrm>
          <a:prstGeom prst="rect">
            <a:avLst/>
          </a:prstGeom>
        </p:spPr>
      </p:pic>
      <p:pic>
        <p:nvPicPr>
          <p:cNvPr id="9" name="圖片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97504" y="2247781"/>
            <a:ext cx="4663219" cy="3712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55003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TW" altLang="en-US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成對樣本 </a:t>
            </a:r>
            <a:r>
              <a:rPr lang="en-US" altLang="zh-TW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 </a:t>
            </a:r>
            <a:r>
              <a:rPr lang="zh-TW" altLang="en-US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檢定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4" name="內容版面配置區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TW" altLang="en-US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假設一藥廠進行新降血壓藥的第一期臨床試驗，結果如下：</a:t>
            </a:r>
            <a:endParaRPr lang="en-US" altLang="zh-TW" dirty="0" smtClean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zh-TW" altLang="en-US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若顯著水準為</a:t>
            </a:r>
            <a:r>
              <a:rPr lang="en-US" altLang="zh-TW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0.05</a:t>
            </a:r>
            <a:r>
              <a:rPr lang="zh-TW" altLang="en-US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</a:t>
            </a:r>
            <a:endParaRPr lang="en-US" altLang="zh-TW" dirty="0" smtClean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請問新降血壓藥是否能有效地降低血壓？</a:t>
            </a:r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06100-5CED-47FA-97FD-F396D5632AD3}" type="slidenum">
              <a:rPr lang="zh-TW" altLang="en-US" smtClean="0"/>
              <a:t>13</a:t>
            </a:fld>
            <a:endParaRPr lang="zh-TW" altLang="en-US"/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/>
          </p:nvPr>
        </p:nvGraphicFramePr>
        <p:xfrm>
          <a:off x="7875372" y="2585831"/>
          <a:ext cx="3602682" cy="36808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008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008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008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6791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 smtClean="0">
                          <a:solidFill>
                            <a:schemeClr val="tx1"/>
                          </a:solidFill>
                          <a:latin typeface="+mn-lt"/>
                          <a:ea typeface="標楷體" panose="03000509000000000000" pitchFamily="65" charset="-120"/>
                        </a:rPr>
                        <a:t>服藥前</a:t>
                      </a:r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+mn-lt"/>
                          <a:ea typeface="標楷體" panose="03000509000000000000" pitchFamily="65" charset="-120"/>
                        </a:rPr>
                        <a:t>(u</a:t>
                      </a:r>
                      <a:r>
                        <a:rPr lang="en-US" altLang="zh-TW" baseline="-25000" dirty="0" smtClean="0">
                          <a:solidFill>
                            <a:schemeClr val="tx1"/>
                          </a:solidFill>
                          <a:latin typeface="+mn-lt"/>
                          <a:ea typeface="標楷體" panose="03000509000000000000" pitchFamily="65" charset="-120"/>
                        </a:rPr>
                        <a:t>1</a:t>
                      </a:r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+mn-lt"/>
                          <a:ea typeface="標楷體" panose="03000509000000000000" pitchFamily="65" charset="-120"/>
                        </a:rPr>
                        <a:t>)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+mn-lt"/>
                        <a:ea typeface="標楷體" panose="03000509000000000000" pitchFamily="65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 smtClean="0">
                          <a:solidFill>
                            <a:schemeClr val="tx1"/>
                          </a:solidFill>
                          <a:latin typeface="+mn-lt"/>
                          <a:ea typeface="標楷體" panose="03000509000000000000" pitchFamily="65" charset="-120"/>
                        </a:rPr>
                        <a:t>服藥後</a:t>
                      </a:r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+mn-lt"/>
                          <a:ea typeface="標楷體" panose="03000509000000000000" pitchFamily="65" charset="-120"/>
                        </a:rPr>
                        <a:t>(u2)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+mn-lt"/>
                        <a:ea typeface="標楷體" panose="03000509000000000000" pitchFamily="65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 smtClean="0">
                          <a:solidFill>
                            <a:schemeClr val="tx1"/>
                          </a:solidFill>
                          <a:latin typeface="+mn-lt"/>
                          <a:ea typeface="標楷體" panose="03000509000000000000" pitchFamily="65" charset="-120"/>
                        </a:rPr>
                        <a:t>血壓下降</a:t>
                      </a:r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+mn-lt"/>
                          <a:ea typeface="標楷體" panose="03000509000000000000" pitchFamily="65" charset="-120"/>
                        </a:rPr>
                        <a:t>(d)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+mn-lt"/>
                        <a:ea typeface="標楷體" panose="03000509000000000000" pitchFamily="65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679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  <a:latin typeface="+mn-lt"/>
                          <a:ea typeface="標楷體" panose="03000509000000000000" pitchFamily="65" charset="-120"/>
                        </a:rPr>
                        <a:t>150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+mn-lt"/>
                        <a:ea typeface="標楷體" panose="03000509000000000000" pitchFamily="65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  <a:latin typeface="+mn-lt"/>
                          <a:ea typeface="標楷體" panose="03000509000000000000" pitchFamily="65" charset="-120"/>
                        </a:rPr>
                        <a:t>145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+mn-lt"/>
                        <a:ea typeface="標楷體" panose="03000509000000000000" pitchFamily="65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  <a:latin typeface="+mn-lt"/>
                          <a:ea typeface="標楷體" panose="03000509000000000000" pitchFamily="65" charset="-120"/>
                        </a:rPr>
                        <a:t>5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+mn-lt"/>
                        <a:ea typeface="標楷體" panose="03000509000000000000" pitchFamily="65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679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  <a:latin typeface="+mn-lt"/>
                          <a:ea typeface="標楷體" panose="03000509000000000000" pitchFamily="65" charset="-120"/>
                        </a:rPr>
                        <a:t>155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+mn-lt"/>
                        <a:ea typeface="標楷體" panose="03000509000000000000" pitchFamily="65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  <a:latin typeface="+mn-lt"/>
                          <a:ea typeface="標楷體" panose="03000509000000000000" pitchFamily="65" charset="-120"/>
                        </a:rPr>
                        <a:t>148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+mn-lt"/>
                        <a:ea typeface="標楷體" panose="03000509000000000000" pitchFamily="65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  <a:latin typeface="+mn-lt"/>
                          <a:ea typeface="標楷體" panose="03000509000000000000" pitchFamily="65" charset="-120"/>
                        </a:rPr>
                        <a:t>7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+mn-lt"/>
                        <a:ea typeface="標楷體" panose="03000509000000000000" pitchFamily="65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679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  <a:latin typeface="+mn-lt"/>
                          <a:ea typeface="標楷體" panose="03000509000000000000" pitchFamily="65" charset="-120"/>
                        </a:rPr>
                        <a:t>153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+mn-lt"/>
                        <a:ea typeface="標楷體" panose="03000509000000000000" pitchFamily="65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  <a:latin typeface="+mn-lt"/>
                          <a:ea typeface="標楷體" panose="03000509000000000000" pitchFamily="65" charset="-120"/>
                        </a:rPr>
                        <a:t>145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+mn-lt"/>
                        <a:ea typeface="標楷體" panose="03000509000000000000" pitchFamily="65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  <a:latin typeface="+mn-lt"/>
                          <a:ea typeface="標楷體" panose="03000509000000000000" pitchFamily="65" charset="-120"/>
                        </a:rPr>
                        <a:t>8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+mn-lt"/>
                        <a:ea typeface="標楷體" panose="03000509000000000000" pitchFamily="65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679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  <a:latin typeface="+mn-lt"/>
                          <a:ea typeface="標楷體" panose="03000509000000000000" pitchFamily="65" charset="-120"/>
                        </a:rPr>
                        <a:t>162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+mn-lt"/>
                        <a:ea typeface="標楷體" panose="03000509000000000000" pitchFamily="65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  <a:latin typeface="+mn-lt"/>
                          <a:ea typeface="標楷體" panose="03000509000000000000" pitchFamily="65" charset="-120"/>
                        </a:rPr>
                        <a:t>149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+mn-lt"/>
                        <a:ea typeface="標楷體" panose="03000509000000000000" pitchFamily="65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  <a:latin typeface="+mn-lt"/>
                          <a:ea typeface="標楷體" panose="03000509000000000000" pitchFamily="65" charset="-120"/>
                        </a:rPr>
                        <a:t>13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+mn-lt"/>
                        <a:ea typeface="標楷體" panose="03000509000000000000" pitchFamily="65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679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  <a:latin typeface="+mn-lt"/>
                          <a:ea typeface="標楷體" panose="03000509000000000000" pitchFamily="65" charset="-120"/>
                        </a:rPr>
                        <a:t>160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+mn-lt"/>
                        <a:ea typeface="標楷體" panose="03000509000000000000" pitchFamily="65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  <a:latin typeface="+mn-lt"/>
                          <a:ea typeface="標楷體" panose="03000509000000000000" pitchFamily="65" charset="-120"/>
                        </a:rPr>
                        <a:t>144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+mn-lt"/>
                        <a:ea typeface="標楷體" panose="03000509000000000000" pitchFamily="65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  <a:latin typeface="+mn-lt"/>
                          <a:ea typeface="標楷體" panose="03000509000000000000" pitchFamily="65" charset="-120"/>
                        </a:rPr>
                        <a:t>16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+mn-lt"/>
                        <a:ea typeface="標楷體" panose="03000509000000000000" pitchFamily="65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679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  <a:latin typeface="+mn-lt"/>
                          <a:ea typeface="標楷體" panose="03000509000000000000" pitchFamily="65" charset="-120"/>
                        </a:rPr>
                        <a:t>170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+mn-lt"/>
                        <a:ea typeface="標楷體" panose="03000509000000000000" pitchFamily="65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  <a:latin typeface="+mn-lt"/>
                          <a:ea typeface="標楷體" panose="03000509000000000000" pitchFamily="65" charset="-120"/>
                        </a:rPr>
                        <a:t>151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+mn-lt"/>
                        <a:ea typeface="標楷體" panose="03000509000000000000" pitchFamily="65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  <a:latin typeface="+mn-lt"/>
                          <a:ea typeface="標楷體" panose="03000509000000000000" pitchFamily="65" charset="-120"/>
                        </a:rPr>
                        <a:t>19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+mn-lt"/>
                        <a:ea typeface="標楷體" panose="03000509000000000000" pitchFamily="65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086100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成對樣本平均值比較之推論</a:t>
            </a:r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內容版面配置區 5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zh-TW" altLang="en-US" dirty="0" smtClean="0">
                    <a:ea typeface="標楷體" panose="03000509000000000000" pitchFamily="65" charset="-120"/>
                  </a:rPr>
                  <a:t>假設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TW" altLang="en-US" dirty="0" smtClean="0">
                    <a:ea typeface="標楷體" panose="03000509000000000000" pitchFamily="65" charset="-120"/>
                  </a:rPr>
                  <a:t>服從常態分布，即為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TW" altLang="en-US" dirty="0" smtClean="0">
                    <a:ea typeface="標楷體" panose="03000509000000000000" pitchFamily="65" charset="-120"/>
                  </a:rPr>
                  <a:t>的單一樣本</a:t>
                </a:r>
                <a:r>
                  <a:rPr lang="en-US" altLang="zh-TW" dirty="0" smtClean="0">
                    <a:ea typeface="標楷體" panose="03000509000000000000" pitchFamily="65" charset="-120"/>
                  </a:rPr>
                  <a:t>t</a:t>
                </a:r>
                <a:r>
                  <a:rPr lang="zh-TW" altLang="en-US" dirty="0" smtClean="0">
                    <a:ea typeface="標楷體" panose="03000509000000000000" pitchFamily="65" charset="-120"/>
                  </a:rPr>
                  <a:t>檢定。</a:t>
                </a:r>
                <a:endParaRPr lang="zh-TW" altLang="en-US" dirty="0">
                  <a:ea typeface="標楷體" panose="03000509000000000000" pitchFamily="65" charset="-120"/>
                </a:endParaRPr>
              </a:p>
            </p:txBody>
          </p:sp>
        </mc:Choice>
        <mc:Fallback xmlns="">
          <p:sp>
            <p:nvSpPr>
              <p:cNvPr id="6" name="內容版面配置區 5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217" t="-252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06100-5CED-47FA-97FD-F396D5632AD3}" type="slidenum">
              <a:rPr lang="zh-TW" altLang="en-US" smtClean="0"/>
              <a:t>14</a:t>
            </a:fld>
            <a:endParaRPr lang="zh-TW" altLang="en-US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1134" y="2438173"/>
            <a:ext cx="8427308" cy="4024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23856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161192" y="180487"/>
            <a:ext cx="11849099" cy="857005"/>
          </a:xfrm>
        </p:spPr>
        <p:txBody>
          <a:bodyPr/>
          <a:lstStyle/>
          <a:p>
            <a:pPr algn="ctr"/>
            <a:r>
              <a:rPr lang="en-US" altLang="zh-TW" dirty="0" err="1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t.test</a:t>
            </a:r>
            <a:r>
              <a:rPr lang="en-US" altLang="zh-TW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(paired sample)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5A20A-F7E8-4753-AF4B-C3CF6A92C889}" type="slidenum">
              <a:rPr lang="zh-TW" altLang="en-US" smtClean="0"/>
              <a:t>15</a:t>
            </a:fld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/>
              <p:cNvSpPr/>
              <p:nvPr/>
            </p:nvSpPr>
            <p:spPr>
              <a:xfrm>
                <a:off x="389791" y="1037492"/>
                <a:ext cx="4155831" cy="496751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10000"/>
                  </a:lnSpc>
                </a:pPr>
                <a:r>
                  <a:rPr lang="zh-TW" altLang="en-US" sz="2400" dirty="0" smtClean="0">
                    <a:latin typeface="標楷體" panose="03000509000000000000" pitchFamily="65" charset="-120"/>
                    <a:ea typeface="標楷體" panose="03000509000000000000" pitchFamily="65" charset="-120"/>
                  </a:rPr>
                  <a:t>請問新降血壓藥是否能有效地降低血壓？</a:t>
                </a:r>
                <a:endParaRPr lang="en-US" altLang="zh-TW" sz="2400" dirty="0" smtClean="0">
                  <a:latin typeface="標楷體" panose="03000509000000000000" pitchFamily="65" charset="-120"/>
                  <a:ea typeface="標楷體" panose="03000509000000000000" pitchFamily="65" charset="-120"/>
                </a:endParaRPr>
              </a:p>
              <a:p>
                <a:pPr>
                  <a:lnSpc>
                    <a:spcPct val="110000"/>
                  </a:lnSpc>
                </a:pPr>
                <a:endParaRPr lang="en-US" altLang="zh-TW" sz="2400" dirty="0">
                  <a:latin typeface="標楷體" panose="03000509000000000000" pitchFamily="65" charset="-120"/>
                  <a:ea typeface="標楷體" panose="03000509000000000000" pitchFamily="65" charset="-120"/>
                </a:endParaRPr>
              </a:p>
              <a:p>
                <a:pPr>
                  <a:lnSpc>
                    <a:spcPct val="110000"/>
                  </a:lnSpc>
                </a:pPr>
                <a:r>
                  <a:rPr lang="zh-TW" altLang="en-US" sz="2400" dirty="0">
                    <a:latin typeface="標楷體" panose="03000509000000000000" pitchFamily="65" charset="-120"/>
                    <a:ea typeface="標楷體" panose="03000509000000000000" pitchFamily="65" charset="-120"/>
                  </a:rPr>
                  <a:t>令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>
                            <a:latin typeface="Cambria Math" panose="02040503050406030204" pitchFamily="18" charset="0"/>
                            <a:ea typeface="標楷體" panose="03000509000000000000" pitchFamily="65" charset="-120"/>
                          </a:rPr>
                        </m:ctrlPr>
                      </m:sSubPr>
                      <m:e>
                        <m:r>
                          <a:rPr lang="zh-TW" altLang="en-US" sz="2400" i="1">
                            <a:latin typeface="Cambria Math" panose="02040503050406030204" pitchFamily="18" charset="0"/>
                            <a:ea typeface="標楷體" panose="03000509000000000000" pitchFamily="65" charset="-120"/>
                          </a:rPr>
                          <m:t>𝜇</m:t>
                        </m:r>
                      </m:e>
                      <m:sub>
                        <m:r>
                          <a:rPr lang="en-US" altLang="zh-TW" sz="2400" i="1">
                            <a:latin typeface="Cambria Math" panose="02040503050406030204" pitchFamily="18" charset="0"/>
                            <a:ea typeface="標楷體" panose="03000509000000000000" pitchFamily="65" charset="-12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TW" altLang="en-US" sz="2400" dirty="0">
                    <a:latin typeface="標楷體" panose="03000509000000000000" pitchFamily="65" charset="-120"/>
                    <a:ea typeface="標楷體" panose="03000509000000000000" pitchFamily="65" charset="-120"/>
                  </a:rPr>
                  <a:t>為服藥前的血壓，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>
                            <a:latin typeface="Cambria Math" panose="02040503050406030204" pitchFamily="18" charset="0"/>
                            <a:ea typeface="標楷體" panose="03000509000000000000" pitchFamily="65" charset="-120"/>
                          </a:rPr>
                        </m:ctrlPr>
                      </m:sSubPr>
                      <m:e>
                        <m:r>
                          <a:rPr lang="zh-TW" altLang="en-US" sz="2400" i="1">
                            <a:latin typeface="Cambria Math" panose="02040503050406030204" pitchFamily="18" charset="0"/>
                            <a:ea typeface="標楷體" panose="03000509000000000000" pitchFamily="65" charset="-120"/>
                          </a:rPr>
                          <m:t>𝜇</m:t>
                        </m:r>
                      </m:e>
                      <m:sub>
                        <m:r>
                          <a:rPr lang="en-US" altLang="zh-TW" sz="2400" i="1">
                            <a:latin typeface="Cambria Math" panose="02040503050406030204" pitchFamily="18" charset="0"/>
                            <a:ea typeface="標楷體" panose="03000509000000000000" pitchFamily="65" charset="-12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TW" altLang="en-US" sz="2400" dirty="0">
                    <a:latin typeface="標楷體" panose="03000509000000000000" pitchFamily="65" charset="-120"/>
                    <a:ea typeface="標楷體" panose="03000509000000000000" pitchFamily="65" charset="-120"/>
                  </a:rPr>
                  <a:t>為服藥後的</a:t>
                </a:r>
                <a:r>
                  <a:rPr lang="zh-TW" altLang="en-US" sz="2400" dirty="0" smtClean="0">
                    <a:latin typeface="標楷體" panose="03000509000000000000" pitchFamily="65" charset="-120"/>
                    <a:ea typeface="標楷體" panose="03000509000000000000" pitchFamily="65" charset="-120"/>
                  </a:rPr>
                  <a:t>血壓</a:t>
                </a:r>
                <a:endParaRPr lang="en-US" altLang="zh-TW" sz="2400" i="1" dirty="0" smtClean="0">
                  <a:solidFill>
                    <a:srgbClr val="0070C0"/>
                  </a:solidFill>
                  <a:latin typeface="Cambria Math" panose="02040503050406030204" pitchFamily="18" charset="0"/>
                  <a:ea typeface="標楷體" panose="03000509000000000000" pitchFamily="65" charset="-120"/>
                </a:endParaRPr>
              </a:p>
              <a:p>
                <a:pPr>
                  <a:lnSpc>
                    <a:spcPct val="110000"/>
                  </a:lnSpc>
                </a:pPr>
                <a:endParaRPr lang="en-US" altLang="zh-TW" sz="2400" i="1" dirty="0" smtClean="0">
                  <a:solidFill>
                    <a:srgbClr val="0070C0"/>
                  </a:solidFill>
                  <a:latin typeface="Cambria Math" panose="02040503050406030204" pitchFamily="18" charset="0"/>
                  <a:ea typeface="標楷體" panose="03000509000000000000" pitchFamily="65" charset="-120"/>
                </a:endParaRPr>
              </a:p>
              <a:p>
                <a:pPr>
                  <a:lnSpc>
                    <a:spcPct val="11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4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標楷體" panose="03000509000000000000" pitchFamily="65" charset="-120"/>
                            </a:rPr>
                          </m:ctrlPr>
                        </m:sSubPr>
                        <m:e>
                          <m:r>
                            <a:rPr lang="en-US" altLang="zh-TW" sz="24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標楷體" panose="03000509000000000000" pitchFamily="65" charset="-120"/>
                            </a:rPr>
                            <m:t>𝐻</m:t>
                          </m:r>
                        </m:e>
                        <m:sub>
                          <m:r>
                            <a:rPr lang="en-US" altLang="zh-TW" sz="24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標楷體" panose="03000509000000000000" pitchFamily="65" charset="-120"/>
                            </a:rPr>
                            <m:t>0</m:t>
                          </m:r>
                        </m:sub>
                      </m:sSub>
                      <m:r>
                        <a:rPr lang="en-US" altLang="zh-TW" sz="240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標楷體" panose="03000509000000000000" pitchFamily="65" charset="-120"/>
                        </a:rPr>
                        <m:t>:</m:t>
                      </m:r>
                      <m:sSub>
                        <m:sSubPr>
                          <m:ctrlPr>
                            <a:rPr lang="en-US" altLang="zh-TW" sz="24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標楷體" panose="03000509000000000000" pitchFamily="65" charset="-120"/>
                            </a:rPr>
                          </m:ctrlPr>
                        </m:sSubPr>
                        <m:e>
                          <m:r>
                            <a:rPr lang="zh-TW" altLang="en-US" sz="24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標楷體" panose="03000509000000000000" pitchFamily="65" charset="-120"/>
                            </a:rPr>
                            <m:t>𝜇</m:t>
                          </m:r>
                        </m:e>
                        <m:sub>
                          <m:r>
                            <a:rPr lang="en-US" altLang="zh-TW" sz="24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標楷體" panose="03000509000000000000" pitchFamily="65" charset="-120"/>
                            </a:rPr>
                            <m:t>1</m:t>
                          </m:r>
                        </m:sub>
                      </m:sSub>
                      <m:r>
                        <a:rPr lang="en-US" altLang="zh-TW" sz="240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標楷體" panose="03000509000000000000" pitchFamily="65" charset="-120"/>
                        </a:rPr>
                        <m:t>−</m:t>
                      </m:r>
                      <m:sSub>
                        <m:sSubPr>
                          <m:ctrlPr>
                            <a:rPr lang="en-US" altLang="zh-TW" sz="24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標楷體" panose="03000509000000000000" pitchFamily="65" charset="-120"/>
                            </a:rPr>
                          </m:ctrlPr>
                        </m:sSubPr>
                        <m:e>
                          <m:r>
                            <a:rPr lang="zh-TW" altLang="en-US" sz="24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標楷體" panose="03000509000000000000" pitchFamily="65" charset="-120"/>
                            </a:rPr>
                            <m:t>𝜇</m:t>
                          </m:r>
                        </m:e>
                        <m:sub>
                          <m:r>
                            <a:rPr lang="en-US" altLang="zh-TW" sz="24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標楷體" panose="03000509000000000000" pitchFamily="65" charset="-120"/>
                            </a:rPr>
                            <m:t>2</m:t>
                          </m:r>
                        </m:sub>
                      </m:sSub>
                      <m:r>
                        <a:rPr lang="en-US" altLang="zh-TW" sz="240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標楷體" panose="03000509000000000000" pitchFamily="65" charset="-120"/>
                        </a:rPr>
                        <m:t>=</m:t>
                      </m:r>
                      <m:r>
                        <a:rPr lang="zh-TW" altLang="en-US" sz="240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標楷體" panose="03000509000000000000" pitchFamily="65" charset="-120"/>
                        </a:rPr>
                        <m:t>𝛿</m:t>
                      </m:r>
                      <m:r>
                        <a:rPr lang="en-US" altLang="zh-TW" sz="240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zh-TW" altLang="en-US" sz="240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標楷體" panose="03000509000000000000" pitchFamily="65" charset="-120"/>
                        </a:rPr>
                        <m:t>0</m:t>
                      </m:r>
                      <m:r>
                        <a:rPr lang="en-US" altLang="zh-TW" sz="240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標楷體" panose="03000509000000000000" pitchFamily="65" charset="-120"/>
                        </a:rPr>
                        <m:t> </m:t>
                      </m:r>
                    </m:oMath>
                  </m:oMathPara>
                </a14:m>
                <a:endParaRPr lang="en-US" altLang="zh-TW" sz="2400" i="1" dirty="0" smtClean="0">
                  <a:solidFill>
                    <a:srgbClr val="0070C0"/>
                  </a:solidFill>
                  <a:latin typeface="Cambria Math" panose="02040503050406030204" pitchFamily="18" charset="0"/>
                  <a:ea typeface="標楷體" panose="03000509000000000000" pitchFamily="65" charset="-120"/>
                </a:endParaRPr>
              </a:p>
              <a:p>
                <a:pPr>
                  <a:lnSpc>
                    <a:spcPct val="11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標楷體" panose="03000509000000000000" pitchFamily="65" charset="-120"/>
                        </a:rPr>
                        <m:t>𝑣𝑠</m:t>
                      </m:r>
                      <m:r>
                        <a:rPr lang="en-US" altLang="zh-TW" sz="240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標楷體" panose="03000509000000000000" pitchFamily="65" charset="-120"/>
                        </a:rPr>
                        <m:t>.</m:t>
                      </m:r>
                      <m:sSub>
                        <m:sSubPr>
                          <m:ctrlPr>
                            <a:rPr lang="en-US" altLang="zh-TW" sz="24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標楷體" panose="03000509000000000000" pitchFamily="65" charset="-120"/>
                            </a:rPr>
                          </m:ctrlPr>
                        </m:sSubPr>
                        <m:e>
                          <m:r>
                            <a:rPr lang="en-US" altLang="zh-TW" sz="24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標楷體" panose="03000509000000000000" pitchFamily="65" charset="-120"/>
                            </a:rPr>
                            <m:t>𝐻</m:t>
                          </m:r>
                        </m:e>
                        <m:sub>
                          <m:r>
                            <a:rPr lang="en-US" altLang="zh-TW" sz="24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標楷體" panose="03000509000000000000" pitchFamily="65" charset="-120"/>
                            </a:rPr>
                            <m:t>1</m:t>
                          </m:r>
                        </m:sub>
                      </m:sSub>
                      <m:r>
                        <a:rPr lang="en-US" altLang="zh-TW" sz="240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標楷體" panose="03000509000000000000" pitchFamily="65" charset="-120"/>
                        </a:rPr>
                        <m:t>:</m:t>
                      </m:r>
                      <m:sSub>
                        <m:sSubPr>
                          <m:ctrlPr>
                            <a:rPr lang="en-US" altLang="zh-TW" sz="24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標楷體" panose="03000509000000000000" pitchFamily="65" charset="-120"/>
                            </a:rPr>
                          </m:ctrlPr>
                        </m:sSubPr>
                        <m:e>
                          <m:r>
                            <a:rPr lang="zh-TW" altLang="en-US" sz="24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標楷體" panose="03000509000000000000" pitchFamily="65" charset="-120"/>
                            </a:rPr>
                            <m:t>𝜇</m:t>
                          </m:r>
                        </m:e>
                        <m:sub>
                          <m:r>
                            <a:rPr lang="en-US" altLang="zh-TW" sz="24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標楷體" panose="03000509000000000000" pitchFamily="65" charset="-120"/>
                            </a:rPr>
                            <m:t>1</m:t>
                          </m:r>
                        </m:sub>
                      </m:sSub>
                      <m:r>
                        <a:rPr lang="en-US" altLang="zh-TW" sz="240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標楷體" panose="03000509000000000000" pitchFamily="65" charset="-120"/>
                        </a:rPr>
                        <m:t>−</m:t>
                      </m:r>
                      <m:sSub>
                        <m:sSubPr>
                          <m:ctrlPr>
                            <a:rPr lang="en-US" altLang="zh-TW" sz="24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標楷體" panose="03000509000000000000" pitchFamily="65" charset="-120"/>
                            </a:rPr>
                          </m:ctrlPr>
                        </m:sSubPr>
                        <m:e>
                          <m:r>
                            <a:rPr lang="zh-TW" altLang="en-US" sz="24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標楷體" panose="03000509000000000000" pitchFamily="65" charset="-120"/>
                            </a:rPr>
                            <m:t>𝜇</m:t>
                          </m:r>
                        </m:e>
                        <m:sub>
                          <m:r>
                            <a:rPr lang="en-US" altLang="zh-TW" sz="24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標楷體" panose="03000509000000000000" pitchFamily="65" charset="-120"/>
                            </a:rPr>
                            <m:t>2</m:t>
                          </m:r>
                        </m:sub>
                      </m:sSub>
                      <m:r>
                        <a:rPr lang="en-US" altLang="zh-TW" sz="240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標楷體" panose="03000509000000000000" pitchFamily="65" charset="-120"/>
                        </a:rPr>
                        <m:t>=</m:t>
                      </m:r>
                      <m:r>
                        <a:rPr lang="zh-TW" altLang="en-US" sz="240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標楷體" panose="03000509000000000000" pitchFamily="65" charset="-120"/>
                        </a:rPr>
                        <m:t>𝛿</m:t>
                      </m:r>
                      <m:r>
                        <a:rPr lang="en-US" altLang="zh-TW" sz="240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</m:t>
                      </m:r>
                      <m:r>
                        <a:rPr lang="zh-TW" altLang="en-US" sz="240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標楷體" panose="03000509000000000000" pitchFamily="65" charset="-120"/>
                        </a:rPr>
                        <m:t>0</m:t>
                      </m:r>
                    </m:oMath>
                  </m:oMathPara>
                </a14:m>
                <a:endParaRPr lang="en-US" altLang="zh-TW" sz="2400" dirty="0" smtClean="0">
                  <a:solidFill>
                    <a:srgbClr val="FF0000"/>
                  </a:solidFill>
                  <a:latin typeface="標楷體" panose="03000509000000000000" pitchFamily="65" charset="-120"/>
                  <a:ea typeface="標楷體" panose="03000509000000000000" pitchFamily="65" charset="-120"/>
                </a:endParaRPr>
              </a:p>
              <a:p>
                <a:pPr>
                  <a:lnSpc>
                    <a:spcPct val="110000"/>
                  </a:lnSpc>
                </a:pPr>
                <a:endParaRPr lang="en-US" altLang="zh-TW" sz="2400" dirty="0">
                  <a:solidFill>
                    <a:srgbClr val="FF0000"/>
                  </a:solidFill>
                  <a:latin typeface="標楷體" panose="03000509000000000000" pitchFamily="65" charset="-120"/>
                  <a:ea typeface="標楷體" panose="03000509000000000000" pitchFamily="65" charset="-120"/>
                </a:endParaRPr>
              </a:p>
              <a:p>
                <a:pPr>
                  <a:lnSpc>
                    <a:spcPct val="110000"/>
                  </a:lnSpc>
                </a:pPr>
                <a:r>
                  <a:rPr lang="zh-TW" altLang="en-US" sz="2400" dirty="0">
                    <a:ea typeface="標楷體" panose="03000509000000000000" pitchFamily="65" charset="-120"/>
                  </a:rPr>
                  <a:t>結論：在顯著水準</a:t>
                </a:r>
                <a:r>
                  <a:rPr lang="en-US" altLang="zh-TW" sz="2400" dirty="0">
                    <a:ea typeface="標楷體" panose="03000509000000000000" pitchFamily="65" charset="-120"/>
                  </a:rPr>
                  <a:t>0.05</a:t>
                </a:r>
                <a:r>
                  <a:rPr lang="zh-TW" altLang="en-US" sz="2400" dirty="0">
                    <a:ea typeface="標楷體" panose="03000509000000000000" pitchFamily="65" charset="-120"/>
                  </a:rPr>
                  <a:t>下，拒絕虛無假設，新降血壓藥能有效改變血壓</a:t>
                </a:r>
                <a:r>
                  <a:rPr lang="zh-TW" altLang="en-US" sz="2400" dirty="0" smtClean="0">
                    <a:ea typeface="標楷體" panose="03000509000000000000" pitchFamily="65" charset="-120"/>
                  </a:rPr>
                  <a:t>。</a:t>
                </a:r>
                <a:endParaRPr lang="en-US" altLang="zh-TW" sz="2400" dirty="0">
                  <a:solidFill>
                    <a:srgbClr val="FF0000"/>
                  </a:solidFill>
                  <a:latin typeface="標楷體" panose="03000509000000000000" pitchFamily="65" charset="-120"/>
                  <a:ea typeface="標楷體" panose="03000509000000000000" pitchFamily="65" charset="-120"/>
                </a:endParaRPr>
              </a:p>
            </p:txBody>
          </p:sp>
        </mc:Choice>
        <mc:Fallback xmlns="">
          <p:sp>
            <p:nvSpPr>
              <p:cNvPr id="6" name="矩形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9791" y="1037492"/>
                <a:ext cx="4155831" cy="4967514"/>
              </a:xfrm>
              <a:prstGeom prst="rect">
                <a:avLst/>
              </a:prstGeom>
              <a:blipFill>
                <a:blip r:embed="rId2"/>
                <a:stretch>
                  <a:fillRect l="-2346" t="-736" r="-1906" b="-135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圖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3861" y="1037492"/>
            <a:ext cx="6708038" cy="2706912"/>
          </a:xfrm>
          <a:prstGeom prst="rect">
            <a:avLst/>
          </a:prstGeom>
        </p:spPr>
      </p:pic>
      <p:pic>
        <p:nvPicPr>
          <p:cNvPr id="10" name="圖片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3861" y="3930161"/>
            <a:ext cx="5026131" cy="2791314"/>
          </a:xfrm>
          <a:prstGeom prst="rect">
            <a:avLst/>
          </a:prstGeom>
        </p:spPr>
      </p:pic>
      <p:sp>
        <p:nvSpPr>
          <p:cNvPr id="11" name="文字方塊 10"/>
          <p:cNvSpPr txBox="1"/>
          <p:nvPr/>
        </p:nvSpPr>
        <p:spPr>
          <a:xfrm>
            <a:off x="8212016" y="3197006"/>
            <a:ext cx="4053254" cy="9048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0000"/>
              </a:lnSpc>
            </a:pPr>
            <a:r>
              <a:rPr lang="zh-TW" altLang="en-US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成對樣本</a:t>
            </a:r>
            <a:r>
              <a:rPr lang="en-US" altLang="zh-TW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</a:t>
            </a:r>
            <a:r>
              <a:rPr lang="zh-TW" altLang="en-US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檢定：</a:t>
            </a:r>
            <a:endParaRPr lang="en-US" altLang="zh-TW" sz="2400" dirty="0" smtClean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</a:pPr>
            <a:r>
              <a:rPr lang="en-US" altLang="zh-TW" sz="2400" dirty="0" err="1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t.test</a:t>
            </a:r>
            <a:r>
              <a:rPr lang="en-US" altLang="zh-TW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zh-TW" altLang="en-US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數值</a:t>
            </a:r>
            <a:r>
              <a:rPr lang="en-US" altLang="zh-TW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, </a:t>
            </a:r>
            <a:r>
              <a:rPr lang="zh-TW" altLang="en-US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數值</a:t>
            </a:r>
            <a:r>
              <a:rPr lang="en-US" altLang="zh-TW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, paired=T, …)</a:t>
            </a:r>
            <a:endParaRPr lang="en-US" altLang="zh-TW" sz="2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05413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TW" altLang="en-US" dirty="0" smtClean="0">
                <a:latin typeface="+mn-lt"/>
                <a:ea typeface="標楷體" panose="03000509000000000000" pitchFamily="65" charset="-120"/>
              </a:rPr>
              <a:t>兩獨立樣本</a:t>
            </a:r>
            <a:r>
              <a:rPr lang="en-US" altLang="zh-TW" dirty="0" smtClean="0">
                <a:latin typeface="+mn-lt"/>
                <a:ea typeface="標楷體" panose="03000509000000000000" pitchFamily="65" charset="-120"/>
              </a:rPr>
              <a:t>t</a:t>
            </a:r>
            <a:r>
              <a:rPr lang="zh-TW" altLang="en-US" dirty="0" smtClean="0">
                <a:latin typeface="+mn-lt"/>
                <a:ea typeface="標楷體" panose="03000509000000000000" pitchFamily="65" charset="-120"/>
              </a:rPr>
              <a:t>檢定</a:t>
            </a:r>
            <a:endParaRPr lang="zh-TW" altLang="en-US" dirty="0">
              <a:latin typeface="+mn-lt"/>
              <a:ea typeface="標楷體" panose="03000509000000000000" pitchFamily="65" charset="-120"/>
            </a:endParaRPr>
          </a:p>
        </p:txBody>
      </p:sp>
      <p:sp>
        <p:nvSpPr>
          <p:cNvPr id="4" name="內容版面配置區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TW" altLang="en-US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比較</a:t>
            </a:r>
            <a:r>
              <a:rPr lang="en-US" altLang="zh-TW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14</a:t>
            </a:r>
            <a:r>
              <a:rPr lang="zh-TW" altLang="en-US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名抽煙的媽媽和</a:t>
            </a:r>
            <a:r>
              <a:rPr lang="en-US" altLang="zh-TW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15</a:t>
            </a:r>
            <a:r>
              <a:rPr lang="zh-TW" altLang="en-US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名不抽煙的媽媽生下來的嬰兒出生體重是否不同：請匯入</a:t>
            </a:r>
            <a:r>
              <a:rPr lang="en-US" altLang="zh-TW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smoking t-test.csv</a:t>
            </a:r>
            <a:r>
              <a:rPr lang="zh-TW" altLang="en-US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。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06100-5CED-47FA-97FD-F396D5632AD3}" type="slidenum">
              <a:rPr lang="zh-TW" altLang="en-US" smtClean="0"/>
              <a:t>16</a:t>
            </a:fld>
            <a:endParaRPr lang="zh-TW" altLang="en-US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4507" y="2819117"/>
            <a:ext cx="5853537" cy="3902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14183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兩獨立樣本平均值比較之推論</a:t>
            </a:r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內容版面配置區 5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:pPr marL="0" indent="0">
                  <a:buNone/>
                </a:pPr>
                <a:r>
                  <a:rPr lang="zh-TW" altLang="en-US" dirty="0" smtClean="0">
                    <a:ea typeface="標楷體" panose="03000509000000000000" pitchFamily="65" charset="-120"/>
                  </a:rPr>
                  <a:t>假設</a:t>
                </a:r>
                <a14:m>
                  <m:oMath xmlns:m="http://schemas.openxmlformats.org/officeDocument/2006/math">
                    <m:r>
                      <a:rPr lang="zh-TW" altLang="en-US" i="1" dirty="0">
                        <a:latin typeface="Cambria Math" panose="02040503050406030204" pitchFamily="18" charset="0"/>
                        <a:ea typeface="標楷體" panose="03000509000000000000" pitchFamily="65" charset="-120"/>
                      </a:rPr>
                      <m:t>兩</m:t>
                    </m:r>
                  </m:oMath>
                </a14:m>
                <a:r>
                  <a:rPr lang="zh-TW" altLang="en-US" dirty="0" smtClean="0">
                    <a:ea typeface="標楷體" panose="03000509000000000000" pitchFamily="65" charset="-120"/>
                  </a:rPr>
                  <a:t>群體皆服從常態分布，分為母群體變異數相同或相異來考慮。</a:t>
                </a:r>
                <a:endParaRPr lang="zh-TW" altLang="en-US" dirty="0">
                  <a:ea typeface="標楷體" panose="03000509000000000000" pitchFamily="65" charset="-120"/>
                </a:endParaRPr>
              </a:p>
            </p:txBody>
          </p:sp>
        </mc:Choice>
        <mc:Fallback xmlns="">
          <p:sp>
            <p:nvSpPr>
              <p:cNvPr id="6" name="內容版面配置區 5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06100-5CED-47FA-97FD-F396D5632AD3}" type="slidenum">
              <a:rPr lang="zh-TW" altLang="en-US" smtClean="0"/>
              <a:t>17</a:t>
            </a:fld>
            <a:endParaRPr lang="zh-TW" altLang="en-US"/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6646" y="2402190"/>
            <a:ext cx="8198708" cy="4216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92720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161192" y="180487"/>
            <a:ext cx="11849099" cy="857005"/>
          </a:xfrm>
        </p:spPr>
        <p:txBody>
          <a:bodyPr/>
          <a:lstStyle/>
          <a:p>
            <a:pPr algn="ctr"/>
            <a:r>
              <a:rPr lang="en-US" altLang="zh-TW" dirty="0" err="1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t.test</a:t>
            </a:r>
            <a:r>
              <a:rPr lang="en-US" altLang="zh-TW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(two independent sample)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5A20A-F7E8-4753-AF4B-C3CF6A92C889}" type="slidenum">
              <a:rPr lang="zh-TW" altLang="en-US" smtClean="0"/>
              <a:t>18</a:t>
            </a:fld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/>
              <p:cNvSpPr/>
              <p:nvPr/>
            </p:nvSpPr>
            <p:spPr>
              <a:xfrm>
                <a:off x="389791" y="1037492"/>
                <a:ext cx="10964009" cy="131112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10000"/>
                  </a:lnSpc>
                </a:pPr>
                <a:r>
                  <a:rPr lang="zh-TW" altLang="en-US" sz="2400" dirty="0">
                    <a:latin typeface="標楷體" panose="03000509000000000000" pitchFamily="65" charset="-120"/>
                    <a:ea typeface="標楷體" panose="03000509000000000000" pitchFamily="65" charset="-120"/>
                  </a:rPr>
                  <a:t>請問兩組媽媽的新生兒出生體重是否不同？</a:t>
                </a:r>
                <a:endParaRPr lang="en-US" altLang="zh-TW" sz="2400" dirty="0">
                  <a:latin typeface="標楷體" panose="03000509000000000000" pitchFamily="65" charset="-120"/>
                  <a:ea typeface="標楷體" panose="03000509000000000000" pitchFamily="65" charset="-120"/>
                </a:endParaRPr>
              </a:p>
              <a:p>
                <a:pPr>
                  <a:lnSpc>
                    <a:spcPct val="110000"/>
                  </a:lnSpc>
                </a:pPr>
                <a:r>
                  <a:rPr lang="zh-TW" altLang="en-US" sz="2400" dirty="0">
                    <a:latin typeface="標楷體" panose="03000509000000000000" pitchFamily="65" charset="-120"/>
                    <a:ea typeface="標楷體" panose="03000509000000000000" pitchFamily="65" charset="-120"/>
                  </a:rPr>
                  <a:t>令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>
                            <a:latin typeface="Cambria Math" panose="02040503050406030204" pitchFamily="18" charset="0"/>
                            <a:ea typeface="標楷體" panose="03000509000000000000" pitchFamily="65" charset="-120"/>
                          </a:rPr>
                        </m:ctrlPr>
                      </m:sSubPr>
                      <m:e>
                        <m:r>
                          <a:rPr lang="zh-TW" altLang="en-US" sz="2400" i="1">
                            <a:latin typeface="Cambria Math" panose="02040503050406030204" pitchFamily="18" charset="0"/>
                            <a:ea typeface="標楷體" panose="03000509000000000000" pitchFamily="65" charset="-120"/>
                          </a:rPr>
                          <m:t>𝜇</m:t>
                        </m:r>
                      </m:e>
                      <m:sub>
                        <m:r>
                          <a:rPr lang="en-US" altLang="zh-TW" sz="2400" i="1">
                            <a:latin typeface="Cambria Math" panose="02040503050406030204" pitchFamily="18" charset="0"/>
                            <a:ea typeface="標楷體" panose="03000509000000000000" pitchFamily="65" charset="-12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TW" altLang="en-US" sz="2400" dirty="0">
                    <a:latin typeface="標楷體" panose="03000509000000000000" pitchFamily="65" charset="-120"/>
                    <a:ea typeface="標楷體" panose="03000509000000000000" pitchFamily="65" charset="-120"/>
                  </a:rPr>
                  <a:t>為不抽煙的媽媽其新生兒出生體重，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>
                            <a:latin typeface="Cambria Math" panose="02040503050406030204" pitchFamily="18" charset="0"/>
                            <a:ea typeface="標楷體" panose="03000509000000000000" pitchFamily="65" charset="-120"/>
                          </a:rPr>
                        </m:ctrlPr>
                      </m:sSubPr>
                      <m:e>
                        <m:r>
                          <a:rPr lang="zh-TW" altLang="en-US" sz="2400" i="1">
                            <a:latin typeface="Cambria Math" panose="02040503050406030204" pitchFamily="18" charset="0"/>
                            <a:ea typeface="標楷體" panose="03000509000000000000" pitchFamily="65" charset="-120"/>
                          </a:rPr>
                          <m:t>𝜇</m:t>
                        </m:r>
                      </m:e>
                      <m:sub>
                        <m:r>
                          <a:rPr lang="en-US" altLang="zh-TW" sz="2400" i="1">
                            <a:latin typeface="Cambria Math" panose="02040503050406030204" pitchFamily="18" charset="0"/>
                            <a:ea typeface="標楷體" panose="03000509000000000000" pitchFamily="65" charset="-12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TW" altLang="en-US" sz="2400" dirty="0">
                    <a:latin typeface="標楷體" panose="03000509000000000000" pitchFamily="65" charset="-120"/>
                    <a:ea typeface="標楷體" panose="03000509000000000000" pitchFamily="65" charset="-120"/>
                  </a:rPr>
                  <a:t>為抽煙的媽媽其新生兒出生體重</a:t>
                </a:r>
                <a:endParaRPr lang="en-US" altLang="zh-TW" sz="2400" dirty="0">
                  <a:latin typeface="標楷體" panose="03000509000000000000" pitchFamily="65" charset="-120"/>
                  <a:ea typeface="標楷體" panose="03000509000000000000" pitchFamily="65" charset="-120"/>
                </a:endParaRPr>
              </a:p>
              <a:p>
                <a:pPr>
                  <a:lnSpc>
                    <a:spcPct val="110000"/>
                  </a:lnSpc>
                </a:pPr>
                <a:r>
                  <a:rPr lang="zh-TW" altLang="en-US" sz="2400" dirty="0">
                    <a:solidFill>
                      <a:srgbClr val="FF0000"/>
                    </a:solidFill>
                    <a:ea typeface="標楷體" panose="03000509000000000000" pitchFamily="65" charset="-120"/>
                  </a:rPr>
                  <a:t>　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標楷體" panose="03000509000000000000" pitchFamily="65" charset="-120"/>
                          </a:rPr>
                        </m:ctrlPr>
                      </m:sSubPr>
                      <m:e>
                        <m:r>
                          <a:rPr lang="en-US" altLang="zh-TW" sz="24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標楷體" panose="03000509000000000000" pitchFamily="65" charset="-120"/>
                          </a:rPr>
                          <m:t>𝐻</m:t>
                        </m:r>
                      </m:e>
                      <m:sub>
                        <m:r>
                          <a:rPr lang="en-US" altLang="zh-TW" sz="24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標楷體" panose="03000509000000000000" pitchFamily="65" charset="-120"/>
                          </a:rPr>
                          <m:t>0</m:t>
                        </m:r>
                      </m:sub>
                    </m:sSub>
                    <m:r>
                      <a:rPr lang="en-US" altLang="zh-TW" sz="2400" i="1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標楷體" panose="03000509000000000000" pitchFamily="65" charset="-120"/>
                      </a:rPr>
                      <m:t>:</m:t>
                    </m:r>
                    <m:sSub>
                      <m:sSubPr>
                        <m:ctrlPr>
                          <a:rPr lang="en-US" altLang="zh-TW" sz="24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標楷體" panose="03000509000000000000" pitchFamily="65" charset="-120"/>
                          </a:rPr>
                        </m:ctrlPr>
                      </m:sSubPr>
                      <m:e>
                        <m:r>
                          <a:rPr lang="zh-TW" altLang="en-US" sz="24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標楷體" panose="03000509000000000000" pitchFamily="65" charset="-120"/>
                          </a:rPr>
                          <m:t>𝜇</m:t>
                        </m:r>
                      </m:e>
                      <m:sub>
                        <m:r>
                          <a:rPr lang="en-US" altLang="zh-TW" sz="24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標楷體" panose="03000509000000000000" pitchFamily="65" charset="-120"/>
                          </a:rPr>
                          <m:t>1</m:t>
                        </m:r>
                      </m:sub>
                    </m:sSub>
                    <m:r>
                      <a:rPr lang="en-US" altLang="zh-TW" sz="2400" i="1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標楷體" panose="03000509000000000000" pitchFamily="65" charset="-120"/>
                      </a:rPr>
                      <m:t>=</m:t>
                    </m:r>
                    <m:sSub>
                      <m:sSubPr>
                        <m:ctrlPr>
                          <a:rPr lang="en-US" altLang="zh-TW" sz="24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標楷體" panose="03000509000000000000" pitchFamily="65" charset="-120"/>
                          </a:rPr>
                        </m:ctrlPr>
                      </m:sSubPr>
                      <m:e>
                        <m:r>
                          <a:rPr lang="zh-TW" altLang="en-US" sz="24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標楷體" panose="03000509000000000000" pitchFamily="65" charset="-120"/>
                          </a:rPr>
                          <m:t>𝜇</m:t>
                        </m:r>
                      </m:e>
                      <m:sub>
                        <m:r>
                          <a:rPr lang="en-US" altLang="zh-TW" sz="24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標楷體" panose="03000509000000000000" pitchFamily="65" charset="-120"/>
                          </a:rPr>
                          <m:t>2</m:t>
                        </m:r>
                      </m:sub>
                    </m:sSub>
                    <m:r>
                      <a:rPr lang="en-US" altLang="zh-TW" sz="2400" i="1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標楷體" panose="03000509000000000000" pitchFamily="65" charset="-120"/>
                      </a:rPr>
                      <m:t> </m:t>
                    </m:r>
                    <m:r>
                      <a:rPr lang="en-US" altLang="zh-TW" sz="2400" i="1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標楷體" panose="03000509000000000000" pitchFamily="65" charset="-120"/>
                      </a:rPr>
                      <m:t>𝑣𝑠</m:t>
                    </m:r>
                    <m:r>
                      <a:rPr lang="en-US" altLang="zh-TW" sz="2400" i="1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標楷體" panose="03000509000000000000" pitchFamily="65" charset="-120"/>
                      </a:rPr>
                      <m:t>.</m:t>
                    </m:r>
                    <m:sSub>
                      <m:sSubPr>
                        <m:ctrlPr>
                          <a:rPr lang="en-US" altLang="zh-TW" sz="24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標楷體" panose="03000509000000000000" pitchFamily="65" charset="-120"/>
                          </a:rPr>
                        </m:ctrlPr>
                      </m:sSubPr>
                      <m:e>
                        <m:r>
                          <a:rPr lang="en-US" altLang="zh-TW" sz="24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標楷體" panose="03000509000000000000" pitchFamily="65" charset="-120"/>
                          </a:rPr>
                          <m:t>𝐻</m:t>
                        </m:r>
                      </m:e>
                      <m:sub>
                        <m:r>
                          <a:rPr lang="en-US" altLang="zh-TW" sz="24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標楷體" panose="03000509000000000000" pitchFamily="65" charset="-120"/>
                          </a:rPr>
                          <m:t>1</m:t>
                        </m:r>
                      </m:sub>
                    </m:sSub>
                    <m:r>
                      <a:rPr lang="en-US" altLang="zh-TW" sz="2400" i="1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標楷體" panose="03000509000000000000" pitchFamily="65" charset="-120"/>
                      </a:rPr>
                      <m:t>:</m:t>
                    </m:r>
                    <m:sSub>
                      <m:sSubPr>
                        <m:ctrlPr>
                          <a:rPr lang="en-US" altLang="zh-TW" sz="24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標楷體" panose="03000509000000000000" pitchFamily="65" charset="-120"/>
                          </a:rPr>
                        </m:ctrlPr>
                      </m:sSubPr>
                      <m:e>
                        <m:r>
                          <a:rPr lang="zh-TW" altLang="en-US" sz="24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標楷體" panose="03000509000000000000" pitchFamily="65" charset="-120"/>
                          </a:rPr>
                          <m:t>𝜇</m:t>
                        </m:r>
                      </m:e>
                      <m:sub>
                        <m:r>
                          <a:rPr lang="en-US" altLang="zh-TW" sz="24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標楷體" panose="03000509000000000000" pitchFamily="65" charset="-120"/>
                          </a:rPr>
                          <m:t>1</m:t>
                        </m:r>
                      </m:sub>
                    </m:sSub>
                    <m:r>
                      <a:rPr lang="en-US" altLang="zh-TW" sz="2400" i="1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sSub>
                      <m:sSubPr>
                        <m:ctrlPr>
                          <a:rPr lang="en-US" altLang="zh-TW" sz="24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標楷體" panose="03000509000000000000" pitchFamily="65" charset="-120"/>
                          </a:rPr>
                        </m:ctrlPr>
                      </m:sSubPr>
                      <m:e>
                        <m:r>
                          <a:rPr lang="zh-TW" altLang="en-US" sz="24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標楷體" panose="03000509000000000000" pitchFamily="65" charset="-120"/>
                          </a:rPr>
                          <m:t>𝜇</m:t>
                        </m:r>
                      </m:e>
                      <m:sub>
                        <m:r>
                          <a:rPr lang="en-US" altLang="zh-TW" sz="24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標楷體" panose="03000509000000000000" pitchFamily="65" charset="-120"/>
                          </a:rPr>
                          <m:t>2</m:t>
                        </m:r>
                      </m:sub>
                    </m:sSub>
                    <m:r>
                      <a:rPr lang="en-US" altLang="zh-TW" sz="2400" i="1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標楷體" panose="03000509000000000000" pitchFamily="65" charset="-120"/>
                      </a:rPr>
                      <m:t> </m:t>
                    </m:r>
                  </m:oMath>
                </a14:m>
                <a:endParaRPr lang="en-US" altLang="zh-TW" sz="2400" dirty="0">
                  <a:solidFill>
                    <a:srgbClr val="FF0000"/>
                  </a:solidFill>
                  <a:latin typeface="標楷體" panose="03000509000000000000" pitchFamily="65" charset="-120"/>
                  <a:ea typeface="標楷體" panose="03000509000000000000" pitchFamily="65" charset="-120"/>
                </a:endParaRPr>
              </a:p>
            </p:txBody>
          </p:sp>
        </mc:Choice>
        <mc:Fallback xmlns="">
          <p:sp>
            <p:nvSpPr>
              <p:cNvPr id="6" name="矩形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9791" y="1037492"/>
                <a:ext cx="10964009" cy="1311128"/>
              </a:xfrm>
              <a:prstGeom prst="rect">
                <a:avLst/>
              </a:prstGeom>
              <a:blipFill>
                <a:blip r:embed="rId2"/>
                <a:stretch>
                  <a:fillRect l="-889" t="-2791" b="-93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圖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9791" y="2348620"/>
            <a:ext cx="8877300" cy="4505325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5914291" y="2914128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TW" altLang="en-US" sz="2400" dirty="0">
                <a:ea typeface="標楷體" panose="03000509000000000000" pitchFamily="65" charset="-120"/>
              </a:rPr>
              <a:t>結論：在顯著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水準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0.05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下，</a:t>
            </a:r>
            <a:r>
              <a:rPr lang="zh-TW" altLang="en-US" sz="2400" dirty="0">
                <a:ea typeface="標楷體" panose="03000509000000000000" pitchFamily="65" charset="-120"/>
              </a:rPr>
              <a:t>拒絕虛無假設，抽煙的媽媽和不抽煙的媽媽生下來的嬰兒出生體重不同</a:t>
            </a:r>
            <a:r>
              <a:rPr lang="zh-TW" altLang="en-US" sz="2400" dirty="0" smtClean="0">
                <a:ea typeface="標楷體" panose="03000509000000000000" pitchFamily="65" charset="-120"/>
              </a:rPr>
              <a:t>。</a:t>
            </a:r>
            <a:endParaRPr lang="zh-TW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4103826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161192" y="180487"/>
            <a:ext cx="11849099" cy="857005"/>
          </a:xfrm>
        </p:spPr>
        <p:txBody>
          <a:bodyPr/>
          <a:lstStyle/>
          <a:p>
            <a:pPr algn="ctr"/>
            <a:r>
              <a:rPr lang="en-US" altLang="zh-TW" dirty="0" err="1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t.test</a:t>
            </a:r>
            <a:r>
              <a:rPr lang="en-US" altLang="zh-TW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(two independent sample)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5A20A-F7E8-4753-AF4B-C3CF6A92C889}" type="slidenum">
              <a:rPr lang="zh-TW" altLang="en-US" smtClean="0"/>
              <a:t>19</a:t>
            </a:fld>
            <a:endParaRPr lang="zh-TW" altLang="en-US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912" y="1037492"/>
            <a:ext cx="7834312" cy="1133098"/>
          </a:xfrm>
          <a:prstGeom prst="rect">
            <a:avLst/>
          </a:prstGeom>
        </p:spPr>
      </p:pic>
      <p:pic>
        <p:nvPicPr>
          <p:cNvPr id="8" name="圖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911" y="2373923"/>
            <a:ext cx="5791692" cy="4164989"/>
          </a:xfrm>
          <a:prstGeom prst="rect">
            <a:avLst/>
          </a:prstGeom>
        </p:spPr>
      </p:pic>
      <p:pic>
        <p:nvPicPr>
          <p:cNvPr id="9" name="圖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2006" y="2373923"/>
            <a:ext cx="5618285" cy="1991096"/>
          </a:xfrm>
          <a:prstGeom prst="rect">
            <a:avLst/>
          </a:prstGeom>
        </p:spPr>
      </p:pic>
      <p:sp>
        <p:nvSpPr>
          <p:cNvPr id="10" name="文字方塊 9"/>
          <p:cNvSpPr txBox="1"/>
          <p:nvPr/>
        </p:nvSpPr>
        <p:spPr>
          <a:xfrm>
            <a:off x="6392006" y="4568352"/>
            <a:ext cx="4619681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0000"/>
              </a:lnSpc>
            </a:pPr>
            <a:r>
              <a:rPr lang="zh-TW" altLang="en-US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兩獨立樣本</a:t>
            </a:r>
            <a:r>
              <a:rPr lang="en-US" altLang="zh-TW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</a:t>
            </a:r>
            <a:r>
              <a:rPr lang="zh-TW" altLang="en-US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檢定：</a:t>
            </a:r>
            <a:endParaRPr lang="en-US" altLang="zh-TW" sz="2400" dirty="0" smtClean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</a:pPr>
            <a:r>
              <a:rPr lang="en-US" altLang="zh-TW" sz="2400" dirty="0" err="1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t.test</a:t>
            </a:r>
            <a:r>
              <a:rPr lang="en-US" altLang="zh-TW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en-US" altLang="zh-TW" sz="2400" dirty="0" err="1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y~x</a:t>
            </a:r>
            <a:r>
              <a:rPr lang="en-US" altLang="zh-TW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, …) </a:t>
            </a:r>
            <a:r>
              <a:rPr lang="zh-TW" altLang="en-US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以</a:t>
            </a:r>
            <a:r>
              <a:rPr lang="en-US" altLang="zh-TW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x</a:t>
            </a:r>
            <a:r>
              <a:rPr lang="zh-TW" altLang="en-US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分類比較</a:t>
            </a:r>
            <a:r>
              <a:rPr lang="en-US" altLang="zh-TW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y</a:t>
            </a:r>
          </a:p>
          <a:p>
            <a:pPr>
              <a:lnSpc>
                <a:spcPct val="110000"/>
              </a:lnSpc>
            </a:pPr>
            <a:r>
              <a:rPr lang="en-US" altLang="zh-TW" sz="2400" dirty="0" err="1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t.test</a:t>
            </a:r>
            <a:r>
              <a:rPr lang="en-US" altLang="zh-TW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(a, b, …) </a:t>
            </a:r>
            <a:r>
              <a:rPr lang="zh-TW" altLang="en-US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檢定兩組的平均數</a:t>
            </a:r>
            <a:endParaRPr lang="en-US" altLang="zh-TW" sz="2400" dirty="0" smtClean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</a:pPr>
            <a:r>
              <a:rPr lang="en-US" altLang="zh-TW" sz="2400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v</a:t>
            </a:r>
            <a:r>
              <a:rPr lang="en-US" altLang="zh-TW" sz="2400" dirty="0" err="1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ar.equal</a:t>
            </a:r>
            <a:r>
              <a:rPr lang="en-US" altLang="zh-TW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=T/F</a:t>
            </a:r>
            <a:r>
              <a:rPr lang="zh-TW" altLang="en-US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：變異數是否相等</a:t>
            </a:r>
            <a:endParaRPr lang="en-US" altLang="zh-TW" sz="2400" dirty="0" smtClean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</a:pPr>
            <a:r>
              <a:rPr lang="en-US" altLang="zh-TW" sz="2400" dirty="0" err="1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var.test</a:t>
            </a:r>
            <a:r>
              <a:rPr lang="en-US" altLang="zh-TW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(a, b) </a:t>
            </a:r>
            <a:r>
              <a:rPr lang="zh-TW" altLang="en-US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檢定兩組的變異數</a:t>
            </a:r>
            <a:endParaRPr lang="en-US" altLang="zh-TW" sz="2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08965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Take Home Message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</a:t>
            </a:r>
            <a:r>
              <a:rPr lang="en-US" altLang="zh-TW" dirty="0" err="1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.test</a:t>
            </a:r>
            <a:r>
              <a:rPr lang="en-US" altLang="zh-TW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()</a:t>
            </a:r>
            <a:r>
              <a:rPr lang="zh-TW" altLang="en-US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為</a:t>
            </a:r>
            <a:r>
              <a:rPr lang="en-US" altLang="zh-TW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</a:t>
            </a:r>
            <a:r>
              <a:rPr lang="zh-TW" altLang="en-US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檢定的函數</a:t>
            </a:r>
            <a:endParaRPr lang="en-US" altLang="zh-TW" dirty="0" smtClean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/>
            <a:r>
              <a:rPr lang="en-US" altLang="zh-TW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mu=? </a:t>
            </a:r>
            <a:r>
              <a:rPr lang="zh-TW" altLang="en-US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可以進行不同數值的假設檢定</a:t>
            </a:r>
            <a:endParaRPr lang="en-US" altLang="zh-TW" dirty="0" smtClean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/>
            <a:r>
              <a:rPr lang="en-US" altLang="zh-TW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Paired=T </a:t>
            </a:r>
            <a:r>
              <a:rPr lang="zh-TW" altLang="en-US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為成對樣本</a:t>
            </a:r>
            <a:r>
              <a:rPr lang="en-US" altLang="zh-TW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</a:t>
            </a:r>
            <a:r>
              <a:rPr lang="zh-TW" altLang="en-US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檢定，</a:t>
            </a:r>
            <a:r>
              <a:rPr lang="en-US" altLang="zh-TW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default</a:t>
            </a:r>
            <a:r>
              <a:rPr lang="zh-TW" altLang="en-US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是</a:t>
            </a:r>
            <a:r>
              <a:rPr lang="en-US" altLang="zh-TW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FALSE</a:t>
            </a:r>
          </a:p>
          <a:p>
            <a:pPr lvl="1"/>
            <a:r>
              <a:rPr lang="en-US" altLang="zh-TW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v</a:t>
            </a:r>
            <a:r>
              <a:rPr lang="en-US" altLang="zh-TW" dirty="0" err="1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ar.equal</a:t>
            </a:r>
            <a:r>
              <a:rPr lang="en-US" altLang="zh-TW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= </a:t>
            </a:r>
            <a:r>
              <a:rPr lang="zh-TW" altLang="en-US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變異數是否相同，</a:t>
            </a:r>
            <a:r>
              <a:rPr lang="en-US" altLang="zh-TW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default</a:t>
            </a:r>
            <a:r>
              <a:rPr lang="zh-TW" altLang="en-US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是</a:t>
            </a:r>
            <a:r>
              <a:rPr lang="en-US" altLang="zh-TW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FALSE</a:t>
            </a:r>
          </a:p>
          <a:p>
            <a:r>
              <a:rPr lang="en-US" altLang="zh-TW" dirty="0" err="1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dnorm</a:t>
            </a:r>
            <a:r>
              <a:rPr lang="en-US" altLang="zh-TW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, </a:t>
            </a:r>
            <a:r>
              <a:rPr lang="en-US" altLang="zh-TW" dirty="0" err="1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pnorm</a:t>
            </a:r>
            <a:r>
              <a:rPr lang="en-US" altLang="zh-TW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, </a:t>
            </a:r>
            <a:r>
              <a:rPr lang="en-US" altLang="zh-TW" dirty="0" err="1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qnorm</a:t>
            </a:r>
            <a:r>
              <a:rPr lang="en-US" altLang="zh-TW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, </a:t>
            </a:r>
            <a:r>
              <a:rPr lang="en-US" altLang="zh-TW" dirty="0" err="1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rnorm</a:t>
            </a:r>
            <a:r>
              <a:rPr lang="zh-TW" altLang="en-US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的功用。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5A20A-F7E8-4753-AF4B-C3CF6A92C889}" type="slidenum">
              <a:rPr lang="zh-TW" altLang="en-US" smtClean="0"/>
              <a:t>20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479847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2167</TotalTime>
  <Words>783</Words>
  <Application>Microsoft Office PowerPoint</Application>
  <PresentationFormat>寬螢幕</PresentationFormat>
  <Paragraphs>158</Paragraphs>
  <Slides>20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20</vt:i4>
      </vt:variant>
    </vt:vector>
  </HeadingPairs>
  <TitlesOfParts>
    <vt:vector size="28" baseType="lpstr">
      <vt:lpstr>新細明體</vt:lpstr>
      <vt:lpstr>標楷體</vt:lpstr>
      <vt:lpstr>Arial</vt:lpstr>
      <vt:lpstr>Calibri</vt:lpstr>
      <vt:lpstr>Calibri Light</vt:lpstr>
      <vt:lpstr>Cambria Math</vt:lpstr>
      <vt:lpstr>Times New Roman</vt:lpstr>
      <vt:lpstr>Office 佈景主題</vt:lpstr>
      <vt:lpstr>平均數檢定(t 檢定)</vt:lpstr>
      <vt:lpstr>平均數檢定</vt:lpstr>
      <vt:lpstr>Student’s t-distribution</vt:lpstr>
      <vt:lpstr>單一樣本 t 檢定</vt:lpstr>
      <vt:lpstr>步驟一與二</vt:lpstr>
      <vt:lpstr>步驟三</vt:lpstr>
      <vt:lpstr>步驟四</vt:lpstr>
      <vt:lpstr>步驟五</vt:lpstr>
      <vt:lpstr>雙尾檢定</vt:lpstr>
      <vt:lpstr>t.test (one sample)</vt:lpstr>
      <vt:lpstr>查表函數</vt:lpstr>
      <vt:lpstr>查表函數的應用</vt:lpstr>
      <vt:lpstr>成對樣本 t 檢定</vt:lpstr>
      <vt:lpstr>成對樣本平均值比較之推論</vt:lpstr>
      <vt:lpstr>t.test (paired sample)</vt:lpstr>
      <vt:lpstr>兩獨立樣本t檢定</vt:lpstr>
      <vt:lpstr>兩獨立樣本平均值比較之推論</vt:lpstr>
      <vt:lpstr>t.test (two independent sample)</vt:lpstr>
      <vt:lpstr>t.test (two independent sample)</vt:lpstr>
      <vt:lpstr>Take Home Message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R基本介紹及安裝</dc:title>
  <dc:creator>linjuihsiang</dc:creator>
  <cp:lastModifiedBy>linjuihsiang</cp:lastModifiedBy>
  <cp:revision>100</cp:revision>
  <cp:lastPrinted>2019-01-18T15:34:11Z</cp:lastPrinted>
  <dcterms:created xsi:type="dcterms:W3CDTF">2019-01-18T04:58:35Z</dcterms:created>
  <dcterms:modified xsi:type="dcterms:W3CDTF">2019-01-25T07:36:25Z</dcterms:modified>
</cp:coreProperties>
</file>