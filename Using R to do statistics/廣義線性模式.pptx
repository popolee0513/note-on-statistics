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31" r:id="rId3"/>
    <p:sldId id="332" r:id="rId4"/>
    <p:sldId id="333" r:id="rId5"/>
    <p:sldId id="338" r:id="rId6"/>
    <p:sldId id="339" r:id="rId7"/>
    <p:sldId id="334" r:id="rId8"/>
    <p:sldId id="340" r:id="rId9"/>
    <p:sldId id="335" r:id="rId10"/>
    <p:sldId id="272" r:id="rId11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E16FAF7-C6B4-43E3-9AF9-B2BA7077D401}" type="datetimeFigureOut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F7A3A3C-4092-4F87-AAC5-8AE395725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18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6CC44-DD20-47AC-A2F1-CF7035690CA6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836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4451-903D-4023-84AA-8A32C6EBF50B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00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F007-A956-42E8-99F6-B95595EAD420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515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F631-D9F9-485D-A8A7-FBCC0A6DEB3B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933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5AFD7-6536-4BBC-B4F5-162D418B1EF9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157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5034-CF1F-46CC-8010-D2EE1EC431AC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477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36C5-8994-4C5F-9AAA-0087632E8E03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16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B748-B0C9-4E29-816D-BCE9B5A5AE71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767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25B0-3DA2-46E8-A440-06EDB94EFED8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4557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EDA39-FB92-4D22-8166-E82F9F3AF4C2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572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6767-40C5-4E65-94B8-E8FE20F3D12E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6122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6B031-C1DB-4304-B5A7-9AD6C929368C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195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廣義線性模式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流行病學與預防醫學研究所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林瑞祥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584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廣義線性模式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2</a:t>
            </a:fld>
            <a:endParaRPr lang="zh-TW" altLang="en-US"/>
          </a:p>
        </p:txBody>
      </p:sp>
      <p:graphicFrame>
        <p:nvGraphicFramePr>
          <p:cNvPr id="11" name="物件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195318"/>
              </p:ext>
            </p:extLst>
          </p:nvPr>
        </p:nvGraphicFramePr>
        <p:xfrm>
          <a:off x="1962882" y="1658391"/>
          <a:ext cx="698182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4" name="Equation" r:id="rId3" imgW="2654280" imgH="253800" progId="Equation.DSMT4">
                  <p:embed/>
                </p:oleObj>
              </mc:Choice>
              <mc:Fallback>
                <p:oleObj name="Equation" r:id="rId3" imgW="2654280" imgH="253800" progId="Equation.DSMT4">
                  <p:embed/>
                  <p:pic>
                    <p:nvPicPr>
                      <p:cNvPr id="6" name="物件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2882" y="1658391"/>
                        <a:ext cx="6981825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物件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149833"/>
              </p:ext>
            </p:extLst>
          </p:nvPr>
        </p:nvGraphicFramePr>
        <p:xfrm>
          <a:off x="1962882" y="2913881"/>
          <a:ext cx="8402514" cy="1202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" name="Equation" r:id="rId5" imgW="3276360" imgH="469800" progId="Equation.DSMT4">
                  <p:embed/>
                </p:oleObj>
              </mc:Choice>
              <mc:Fallback>
                <p:oleObj name="Equation" r:id="rId5" imgW="3276360" imgH="469800" progId="Equation.DSMT4">
                  <p:embed/>
                  <p:pic>
                    <p:nvPicPr>
                      <p:cNvPr id="8" name="物件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882" y="2913881"/>
                        <a:ext cx="8402514" cy="12025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物件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914236"/>
              </p:ext>
            </p:extLst>
          </p:nvPr>
        </p:nvGraphicFramePr>
        <p:xfrm>
          <a:off x="1962882" y="4711810"/>
          <a:ext cx="7920880" cy="2084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" name="Equation" r:id="rId7" imgW="3708360" imgH="977760" progId="Equation.DSMT4">
                  <p:embed/>
                </p:oleObj>
              </mc:Choice>
              <mc:Fallback>
                <p:oleObj name="Equation" r:id="rId7" imgW="3708360" imgH="977760" progId="Equation.DSMT4">
                  <p:embed/>
                  <p:pic>
                    <p:nvPicPr>
                      <p:cNvPr id="9" name="物件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882" y="4711810"/>
                        <a:ext cx="7920880" cy="2084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495298" y="1117353"/>
            <a:ext cx="8244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Multiple linear regression</a:t>
            </a:r>
            <a:r>
              <a:rPr lang="zh-TW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：應變數服從常態分布，為連續變項</a:t>
            </a:r>
            <a:endParaRPr lang="en-US" altLang="zh-TW" sz="2400" dirty="0" smtClean="0">
              <a:solidFill>
                <a:srgbClr val="0070C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95299" y="2417208"/>
            <a:ext cx="7602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Logistic regression</a:t>
            </a:r>
            <a:r>
              <a:rPr lang="zh-TW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：應變數服從二項分布，為二元變項</a:t>
            </a:r>
            <a:endParaRPr lang="en-US" altLang="zh-TW" sz="2400" dirty="0" smtClean="0">
              <a:solidFill>
                <a:srgbClr val="0070C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95299" y="4133346"/>
            <a:ext cx="9388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Poisson regression</a:t>
            </a:r>
            <a:r>
              <a:rPr lang="zh-TW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：應變數服從布阿松分布，為計數變項，或發生率</a:t>
            </a:r>
            <a:endParaRPr lang="en-US" altLang="zh-TW" sz="2400" dirty="0" smtClean="0">
              <a:solidFill>
                <a:srgbClr val="0070C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902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線性迴歸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(linear regression)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2277206" y="5377642"/>
            <a:ext cx="76170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glm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(y~x</a:t>
            </a:r>
            <a:r>
              <a:rPr lang="en-US" altLang="zh-TW" sz="2400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+x</a:t>
            </a:r>
            <a:r>
              <a:rPr lang="en-US" altLang="zh-TW" sz="2400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+…, family= , data= 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：廣義線性模式函數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family =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gaussian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binomial(link=logit),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poisson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(link=log)</a:t>
            </a: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依次為線性迴歸</a:t>
            </a:r>
            <a:r>
              <a:rPr lang="zh-TW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羅吉斯迴歸</a:t>
            </a:r>
            <a:r>
              <a:rPr lang="zh-TW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卜瓦松迴歸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92" y="1197953"/>
            <a:ext cx="5839143" cy="3813664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194" y="1197953"/>
            <a:ext cx="5643797" cy="41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35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羅吉斯迴歸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(logistic regression)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4</a:t>
            </a:fld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36" y="1152324"/>
            <a:ext cx="5937006" cy="55691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5978765" y="1037492"/>
                <a:ext cx="5919423" cy="4984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探討年齡與冠狀動脈心臟病發生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(chd69)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之相關性。請匯入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wcgs.csv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felse(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邏輯判斷式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TRUE, FALSE)</a:t>
                </a:r>
              </a:p>
              <a:p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先將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chd69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Yes/No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轉換為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chd691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1/0</a:t>
                </a:r>
              </a:p>
              <a:p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𝑙𝑜𝑔𝑖𝑡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𝑐h𝑑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691</m:t>
                              </m:r>
                            </m:e>
                          </m:d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𝑐h𝑑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691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𝑐h𝑑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691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=−5.9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7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𝑎𝑔𝑒</m:t>
                      </m:r>
                    </m:oMath>
                  </m:oMathPara>
                </a14:m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每增加一歲得到冠狀動脈心臟病的風險會增加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exp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(0.074)=1.077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倍。信賴區間為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𝑒𝑥𝑝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0.074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±1.96×0.011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1.054, 1.100</m:t>
                        </m:r>
                      </m:e>
                    </m:d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765" y="1037492"/>
                <a:ext cx="5919423" cy="4984826"/>
              </a:xfrm>
              <a:prstGeom prst="rect">
                <a:avLst/>
              </a:prstGeom>
              <a:blipFill>
                <a:blip r:embed="rId3"/>
                <a:stretch>
                  <a:fillRect l="-1648" t="-978" b="-2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接點 4"/>
          <p:cNvCxnSpPr/>
          <p:nvPr/>
        </p:nvCxnSpPr>
        <p:spPr>
          <a:xfrm>
            <a:off x="1415567" y="6721475"/>
            <a:ext cx="12660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41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羅吉斯迴歸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(logistic regression)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6827958" y="1547582"/>
            <a:ext cx="44401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探討年齡分層與冠狀動脈心臟病發生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(chd691)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之相關性。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age(41-45)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歲為例，相較於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age(35-40)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得到冠狀動脈心臟病的風險比為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exp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(-0.132)=0.877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倍。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4" y="990338"/>
            <a:ext cx="5833327" cy="5731137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6827959" y="4365996"/>
            <a:ext cx="45258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羅吉斯迴歸，將其迴歸係數取自然指數即等於勝算比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(odds ratio)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24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羅吉斯迴歸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(logistic regression)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539" y="1037492"/>
            <a:ext cx="5588977" cy="144774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539" y="2502823"/>
            <a:ext cx="6822098" cy="4296834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7097590" y="3001615"/>
            <a:ext cx="47595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a.omit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：清除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</a:t>
            </a: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a.bmi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a.sbp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：表示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a.bmi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a.sbp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的交互作用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接點 10"/>
          <p:cNvCxnSpPr/>
          <p:nvPr/>
        </p:nvCxnSpPr>
        <p:spPr>
          <a:xfrm>
            <a:off x="1907931" y="3472963"/>
            <a:ext cx="12485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31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ROC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曲線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202" y="1033554"/>
            <a:ext cx="6108089" cy="532673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15" y="1037492"/>
            <a:ext cx="5715000" cy="241935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115" y="3696921"/>
            <a:ext cx="3895725" cy="1047750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249115" y="4909546"/>
            <a:ext cx="56530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AUC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為曲線下面積，越大表示此模式的預測能力越佳。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圖中標示的點是離左上角最近的點，可挑選為最佳的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cut-off point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916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虛擬變項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(dummy variables)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3596053" y="2012705"/>
            <a:ext cx="713935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TW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若資料為</a:t>
            </a:r>
            <a:r>
              <a:rPr lang="en-US" altLang="zh-TW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zh-TW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類的類別變項，應使用</a:t>
            </a:r>
            <a:r>
              <a:rPr lang="en-US" altLang="zh-TW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k-1</a:t>
            </a:r>
            <a:r>
              <a:rPr lang="zh-TW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個虛擬變項。</a:t>
            </a:r>
            <a:endParaRPr lang="en-US" altLang="zh-TW" sz="2400" dirty="0" smtClean="0">
              <a:solidFill>
                <a:prstClr val="black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0"/>
            <a:endParaRPr lang="en-US" altLang="zh-TW" sz="2400" dirty="0">
              <a:solidFill>
                <a:prstClr val="black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0"/>
            <a:r>
              <a:rPr lang="zh-TW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需要使用虛擬變項分別估計</a:t>
            </a:r>
            <a:r>
              <a:rPr lang="en-US" altLang="zh-TW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1/3</a:t>
            </a:r>
            <a:r>
              <a:rPr lang="zh-TW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2/3</a:t>
            </a:r>
            <a:r>
              <a:rPr lang="zh-TW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間的差距，能以底下方</a:t>
            </a:r>
            <a:r>
              <a:rPr lang="zh-TW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式</a:t>
            </a:r>
            <a:r>
              <a:rPr lang="zh-TW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創造虛擬變項。</a:t>
            </a:r>
            <a:endParaRPr lang="en-US" altLang="zh-TW" sz="2400" dirty="0" smtClean="0">
              <a:solidFill>
                <a:prstClr val="black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0"/>
            <a:endParaRPr lang="en-US" altLang="zh-TW" sz="2400" dirty="0">
              <a:solidFill>
                <a:prstClr val="black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0"/>
            <a:r>
              <a:rPr lang="en-US" altLang="zh-TW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R1 = ifelse(RACE == 1, 1, 0)</a:t>
            </a:r>
            <a:endParaRPr lang="en-US" altLang="zh-TW" sz="2400" dirty="0">
              <a:solidFill>
                <a:prstClr val="black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0"/>
            <a:r>
              <a:rPr lang="en-US" altLang="zh-TW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R2 </a:t>
            </a:r>
            <a:r>
              <a:rPr lang="en-US" altLang="zh-TW" sz="2400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ifelse(RACE == </a:t>
            </a:r>
            <a:r>
              <a:rPr lang="en-US" altLang="zh-TW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2, </a:t>
            </a:r>
            <a:r>
              <a:rPr lang="en-US" altLang="zh-TW" sz="2400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1, 0)</a:t>
            </a:r>
            <a:endParaRPr lang="en-US" altLang="zh-TW" sz="2400" dirty="0">
              <a:solidFill>
                <a:prstClr val="black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695" y="1882540"/>
            <a:ext cx="89535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2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47" y="952101"/>
            <a:ext cx="6956547" cy="5769374"/>
          </a:xfrm>
          <a:prstGeom prst="rect">
            <a:avLst/>
          </a:prstGeom>
        </p:spPr>
      </p:pic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卜瓦松迴歸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(Poisson regression)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6163407" y="3234852"/>
            <a:ext cx="57501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卜瓦松迴歸的應變數為單位時間內發生的次數，服從卜瓦松分布。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glm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中，應變數為次數，時間的長短為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offset(log(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time</a:t>
            </a:r>
            <a:r>
              <a:rPr lang="en-US" altLang="zh-TW" sz="2400" i="1" baseline="-250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接受治療的發生率為沒接受治療的發生率的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exp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(-0.256)=0.774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倍，即發生率比。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163407" y="952101"/>
            <a:ext cx="3429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請匯入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Poissonreg.csv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355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Take Home Message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生醫領域中，羅吉斯迴歸是最常用的迴歸模式之一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自然指數化的迴歸係數即為勝算比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(odds ratio, OR)</a:t>
            </a: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卜瓦松迴歸用於計數資料和發生率，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offset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用來做人年的校正項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lvl="2">
              <a:spcBef>
                <a:spcPts val="1000"/>
              </a:spcBef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自然指數化的迴歸係數即為發生率比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(incidence rate ratio, IRR)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還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有其他廣義線性模式，配合假設和資料型態選擇適當的模式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798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3464</TotalTime>
  <Words>517</Words>
  <Application>Microsoft Office PowerPoint</Application>
  <PresentationFormat>寬螢幕</PresentationFormat>
  <Paragraphs>63</Paragraphs>
  <Slides>10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9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Equation</vt:lpstr>
      <vt:lpstr>廣義線性模式</vt:lpstr>
      <vt:lpstr>廣義線性模式</vt:lpstr>
      <vt:lpstr>線性迴歸 (linear regression)</vt:lpstr>
      <vt:lpstr>羅吉斯迴歸(logistic regression)</vt:lpstr>
      <vt:lpstr>羅吉斯迴歸(logistic regression)</vt:lpstr>
      <vt:lpstr>羅吉斯迴歸(logistic regression)</vt:lpstr>
      <vt:lpstr>ROC曲線</vt:lpstr>
      <vt:lpstr>虛擬變項(dummy variables)</vt:lpstr>
      <vt:lpstr>卜瓦松迴歸(Poisson regression)</vt:lpstr>
      <vt:lpstr>Take Home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R基本介紹及安裝</dc:title>
  <dc:creator>linjuihsiang</dc:creator>
  <cp:lastModifiedBy>linjuihsiang</cp:lastModifiedBy>
  <cp:revision>159</cp:revision>
  <cp:lastPrinted>2019-01-18T15:34:11Z</cp:lastPrinted>
  <dcterms:created xsi:type="dcterms:W3CDTF">2019-01-18T04:58:35Z</dcterms:created>
  <dcterms:modified xsi:type="dcterms:W3CDTF">2019-01-25T23:43:56Z</dcterms:modified>
</cp:coreProperties>
</file>