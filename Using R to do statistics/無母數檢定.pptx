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86" r:id="rId3"/>
    <p:sldId id="288" r:id="rId4"/>
    <p:sldId id="257" r:id="rId5"/>
    <p:sldId id="302" r:id="rId6"/>
    <p:sldId id="303" r:id="rId7"/>
    <p:sldId id="306" r:id="rId8"/>
    <p:sldId id="305" r:id="rId9"/>
    <p:sldId id="307" r:id="rId10"/>
    <p:sldId id="272" r:id="rId11"/>
    <p:sldId id="274" r:id="rId12"/>
  </p:sldIdLst>
  <p:sldSz cx="12192000" cy="6858000"/>
  <p:notesSz cx="7099300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BE16FAF7-C6B4-43E3-9AF9-B2BA7077D401}" type="datetimeFigureOut">
              <a:rPr lang="zh-TW" altLang="en-US" smtClean="0"/>
              <a:t>2019/1/26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7F7A3A3C-4092-4F87-AAC5-8AE3957256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4184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6CC44-DD20-47AC-A2F1-CF7035690CA6}" type="datetime1">
              <a:rPr lang="zh-TW" altLang="en-US" smtClean="0"/>
              <a:t>2019/1/26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8365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54451-903D-4023-84AA-8A32C6EBF50B}" type="datetime1">
              <a:rPr lang="zh-TW" altLang="en-US" smtClean="0"/>
              <a:t>2019/1/26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7007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9F007-A956-42E8-99F6-B95595EAD420}" type="datetime1">
              <a:rPr lang="zh-TW" altLang="en-US" smtClean="0"/>
              <a:t>2019/1/26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5156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0F631-D9F9-485D-A8A7-FBCC0A6DEB3B}" type="datetime1">
              <a:rPr lang="zh-TW" altLang="en-US" smtClean="0"/>
              <a:t>2019/1/26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9337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5AFD7-6536-4BBC-B4F5-162D418B1EF9}" type="datetime1">
              <a:rPr lang="zh-TW" altLang="en-US" smtClean="0"/>
              <a:t>2019/1/26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1577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E5034-CF1F-46CC-8010-D2EE1EC431AC}" type="datetime1">
              <a:rPr lang="zh-TW" altLang="en-US" smtClean="0"/>
              <a:t>2019/1/26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4776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536C5-8994-4C5F-9AAA-0087632E8E03}" type="datetime1">
              <a:rPr lang="zh-TW" altLang="en-US" smtClean="0"/>
              <a:t>2019/1/26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8162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1B748-B0C9-4E29-816D-BCE9B5A5AE71}" type="datetime1">
              <a:rPr lang="zh-TW" altLang="en-US" smtClean="0"/>
              <a:t>2019/1/26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9767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625B0-3DA2-46E8-A440-06EDB94EFED8}" type="datetime1">
              <a:rPr lang="zh-TW" altLang="en-US" smtClean="0"/>
              <a:t>2019/1/26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4557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EDA39-FB92-4D22-8166-E82F9F3AF4C2}" type="datetime1">
              <a:rPr lang="zh-TW" altLang="en-US" smtClean="0"/>
              <a:t>2019/1/26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5722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26767-40C5-4E65-94B8-E8FE20F3D12E}" type="datetime1">
              <a:rPr lang="zh-TW" altLang="en-US" smtClean="0"/>
              <a:t>2019/1/26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6122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16B031-C1DB-4304-B5A7-9AD6C929368C}" type="datetime1">
              <a:rPr lang="zh-TW" altLang="en-US" smtClean="0"/>
              <a:t>2019/1/26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195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無母數檢定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流行病學與預防醫學研究所</a:t>
            </a:r>
            <a:endParaRPr lang="en-US" altLang="zh-TW" sz="28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林瑞祥</a:t>
            </a:r>
            <a:endParaRPr lang="zh-TW" altLang="en-US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5840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 smtClean="0">
                <a:latin typeface="+mn-lt"/>
                <a:ea typeface="標楷體" panose="03000509000000000000" pitchFamily="65" charset="-120"/>
              </a:rPr>
              <a:t>中位數檢定</a:t>
            </a:r>
            <a:endParaRPr lang="zh-TW" altLang="en-US" dirty="0">
              <a:latin typeface="+mn-lt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當母群體分布</a:t>
            </a:r>
            <a:r>
              <a:rPr lang="zh-TW" altLang="en-US" dirty="0" smtClean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未知或非常態</a:t>
            </a:r>
            <a:endParaRPr lang="en-US" altLang="zh-TW" dirty="0" smtClean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Sign test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：成對樣本的中位數檢定。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Wilcoxon signed-rank test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：成對樣本的中位數檢定。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Wilcoxon rank sum test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：對兩個獨立樣本的中位數檢定。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Kruskal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-Wallis test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：對兩個以上獨立樣本的中位數檢定。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06100-5CED-47FA-97FD-F396D5632AD3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6548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符號檢定 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(sign test)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838200" y="1825625"/>
            <a:ext cx="5887915" cy="4351338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肺部囊狀纖維化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(cystic fibrosis, CF)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與正常人，以年齡</a:t>
            </a:r>
            <a:r>
              <a:rPr lang="zh-TW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性別</a:t>
            </a:r>
            <a:r>
              <a:rPr lang="zh-TW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身高</a:t>
            </a:r>
            <a:r>
              <a:rPr lang="zh-TW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體重進行配對，能量代謝的結果如右：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請匯入</a:t>
            </a:r>
            <a:r>
              <a:rPr lang="en-US" altLang="zh-TW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cf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for sign.csv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若顯著水準為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0.05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請問肺部囊狀纖維化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(cystic fibrosis, CF)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與正常人之能量代謝是否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相同？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06100-5CED-47FA-97FD-F396D5632AD3}" type="slidenum">
              <a:rPr lang="zh-TW" altLang="en-US" smtClean="0"/>
              <a:t>3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317" y="1690688"/>
            <a:ext cx="4857750" cy="458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964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161192" y="180487"/>
            <a:ext cx="11849099" cy="857005"/>
          </a:xfrm>
        </p:spPr>
        <p:txBody>
          <a:bodyPr/>
          <a:lstStyle/>
          <a:p>
            <a:pPr algn="ctr"/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符號檢定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(sign test)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568568" y="1328127"/>
            <a:ext cx="382758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請問肺部囊狀纖維化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(cystic fibrosis, CF)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與正常人之能量代謝是否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相同？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</a:t>
            </a:r>
            <a:r>
              <a:rPr lang="en-US" altLang="zh-TW" sz="2400" baseline="-25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CF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病人與正常人之能量代謝的中位數相同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</a:t>
            </a:r>
            <a:r>
              <a:rPr lang="en-US" altLang="zh-TW" sz="2400" baseline="-25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CF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病人與正常人之能量代謝的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中位數不同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結論：肺部囊狀纖維化與正常人之能量代謝不同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0969" y="1328127"/>
            <a:ext cx="7543800" cy="484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73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sz="4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魏克森符號等級檢定 </a:t>
            </a:r>
            <a:r>
              <a:rPr lang="en-US" altLang="zh-TW" sz="4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(Wilcoxon signed-rank test)</a:t>
            </a:r>
            <a:endParaRPr lang="zh-TW" altLang="en-US" sz="4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838200" y="1825625"/>
            <a:ext cx="4788877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14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組配對的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CF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病人，分別接受安慰劑和藥物，呼吸效能結果：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請匯入</a:t>
            </a:r>
            <a:r>
              <a:rPr lang="en-US" altLang="zh-TW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cf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for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ilcoxon.csv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若顯著水準為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0.05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請問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CF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病人服用藥物後能改善呼吸效能嗎？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06100-5CED-47FA-97FD-F396D5632AD3}" type="slidenum">
              <a:rPr lang="zh-TW" altLang="en-US" smtClean="0"/>
              <a:t>5</a:t>
            </a:fld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7332" y="1572419"/>
            <a:ext cx="6162675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043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161192" y="180487"/>
            <a:ext cx="11849099" cy="857005"/>
          </a:xfrm>
        </p:spPr>
        <p:txBody>
          <a:bodyPr/>
          <a:lstStyle/>
          <a:p>
            <a:pPr algn="ctr"/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魏克森符號等級檢定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(Wilcoxon signed-rank test)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463062" y="1328127"/>
            <a:ext cx="3827584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請問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CF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病人服用藥物後能改善呼吸效能嗎？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</a:t>
            </a:r>
            <a:r>
              <a:rPr lang="en-US" altLang="zh-TW" sz="2400" baseline="-25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CF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病人服用安慰劑和藥物之呼吸效能的中位數相同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</a:t>
            </a:r>
            <a:r>
              <a:rPr lang="en-US" altLang="zh-TW" sz="2400" baseline="-25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CF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病人服用安慰劑和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藥物之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呼吸效能的中位數相同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結論：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CF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病人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服用藥物能改善呼吸效能同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317" y="1881920"/>
            <a:ext cx="6915150" cy="330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301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161192" y="180487"/>
            <a:ext cx="11849099" cy="857005"/>
          </a:xfrm>
        </p:spPr>
        <p:txBody>
          <a:bodyPr/>
          <a:lstStyle/>
          <a:p>
            <a:pPr algn="ctr"/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魏克森等級和檢定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(Wilcoxon rank sum test)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6423361" y="1847433"/>
            <a:ext cx="530557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收集兩群罹患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PKU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的小孩，分別為血中苯丙胺酸含量低和高，測量其心智年齡分數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nMA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如左：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請匯入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PKU.csv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若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顯著水準為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0.05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請問血中苯丙胺酸含量不同，是否有不同的心智年齡分數？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408" y="1037492"/>
            <a:ext cx="5699979" cy="5660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191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161192" y="180487"/>
            <a:ext cx="11849099" cy="857005"/>
          </a:xfrm>
        </p:spPr>
        <p:txBody>
          <a:bodyPr/>
          <a:lstStyle/>
          <a:p>
            <a:pPr algn="ctr"/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魏克森等級和檢定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(Wilcoxon rank sum test)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454269" y="1687146"/>
            <a:ext cx="417927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請問血中苯丙胺酸含量不同，是否有不同的心智年齡分數？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</a:t>
            </a:r>
            <a:r>
              <a:rPr lang="en-US" altLang="zh-TW" sz="2400" baseline="-25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：血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中苯丙胺酸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含量較高和較低的兩組有相同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的心智年齡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分數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</a:t>
            </a:r>
            <a:r>
              <a:rPr lang="en-US" altLang="zh-TW" sz="2400" baseline="-25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：血中苯丙胺酸含量較高和較低的兩組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有不同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的心智年齡分數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結論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：血中苯丙胺酸含量較高和較低的兩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組，其心智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年齡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分數無顯著不同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3691" y="1687146"/>
            <a:ext cx="7086600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389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406826" y="1321486"/>
            <a:ext cx="4788877" cy="1068631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在顯著水準為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0.05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不同地區的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PM</a:t>
            </a:r>
            <a:r>
              <a:rPr lang="en-US" altLang="zh-TW" baseline="-25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2.5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是否不同？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06100-5CED-47FA-97FD-F396D5632AD3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26" y="2825750"/>
            <a:ext cx="8715375" cy="3895725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965" y="1143000"/>
            <a:ext cx="4217011" cy="2705252"/>
          </a:xfrm>
          <a:prstGeom prst="rect">
            <a:avLst/>
          </a:prstGeom>
        </p:spPr>
      </p:pic>
      <p:sp>
        <p:nvSpPr>
          <p:cNvPr id="9" name="標題 3"/>
          <p:cNvSpPr>
            <a:spLocks noGrp="1"/>
          </p:cNvSpPr>
          <p:nvPr>
            <p:ph type="title"/>
          </p:nvPr>
        </p:nvSpPr>
        <p:spPr>
          <a:xfrm>
            <a:off x="161192" y="180487"/>
            <a:ext cx="11849099" cy="857005"/>
          </a:xfrm>
        </p:spPr>
        <p:txBody>
          <a:bodyPr/>
          <a:lstStyle/>
          <a:p>
            <a:pPr algn="ctr"/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克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瓦二氏檢定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Kruskal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-Wallis test)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9441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Take Home Message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10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681041"/>
              </p:ext>
            </p:extLst>
          </p:nvPr>
        </p:nvGraphicFramePr>
        <p:xfrm>
          <a:off x="738553" y="1943100"/>
          <a:ext cx="10711962" cy="42302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0654">
                  <a:extLst>
                    <a:ext uri="{9D8B030D-6E8A-4147-A177-3AD203B41FA5}">
                      <a16:colId xmlns:a16="http://schemas.microsoft.com/office/drawing/2014/main" val="1382127958"/>
                    </a:ext>
                  </a:extLst>
                </a:gridCol>
                <a:gridCol w="3570654">
                  <a:extLst>
                    <a:ext uri="{9D8B030D-6E8A-4147-A177-3AD203B41FA5}">
                      <a16:colId xmlns:a16="http://schemas.microsoft.com/office/drawing/2014/main" val="2833491119"/>
                    </a:ext>
                  </a:extLst>
                </a:gridCol>
                <a:gridCol w="3570654">
                  <a:extLst>
                    <a:ext uri="{9D8B030D-6E8A-4147-A177-3AD203B41FA5}">
                      <a16:colId xmlns:a16="http://schemas.microsoft.com/office/drawing/2014/main" val="2842505273"/>
                    </a:ext>
                  </a:extLst>
                </a:gridCol>
              </a:tblGrid>
              <a:tr h="72207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對照整理</a:t>
                      </a:r>
                      <a:endParaRPr lang="zh-TW" altLang="en-US" sz="24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母數方法 </a:t>
                      </a:r>
                      <a:r>
                        <a:rPr lang="en-US" altLang="zh-TW" sz="240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240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常態分布</a:t>
                      </a:r>
                      <a:r>
                        <a:rPr lang="en-US" altLang="zh-TW" sz="240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24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無母數方法</a:t>
                      </a:r>
                      <a:endParaRPr lang="zh-TW" altLang="en-US" sz="24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5791243"/>
                  </a:ext>
                </a:extLst>
              </a:tr>
              <a:tr h="108575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成對樣本</a:t>
                      </a:r>
                      <a:endParaRPr lang="zh-TW" altLang="en-US" sz="24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Paired t-test</a:t>
                      </a:r>
                      <a:endParaRPr lang="zh-TW" altLang="en-US" sz="24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Wilcoxon signed-rank test</a:t>
                      </a:r>
                      <a:endParaRPr lang="zh-TW" altLang="en-US" sz="24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076877"/>
                  </a:ext>
                </a:extLst>
              </a:tr>
              <a:tr h="170029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兩組獨立樣本</a:t>
                      </a:r>
                      <a:endParaRPr lang="zh-TW" altLang="en-US" sz="24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Two-sample</a:t>
                      </a:r>
                      <a:r>
                        <a:rPr lang="en-US" altLang="zh-TW" sz="2400" baseline="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t-test</a:t>
                      </a:r>
                      <a:endParaRPr lang="zh-TW" altLang="en-US" sz="24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Wilcoxon rank sum test</a:t>
                      </a:r>
                    </a:p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(Mann-Whitney U-test)</a:t>
                      </a:r>
                      <a:endParaRPr lang="zh-TW" altLang="en-US" sz="24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6692545"/>
                  </a:ext>
                </a:extLst>
              </a:tr>
              <a:tr h="72207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兩組以上獨立樣本</a:t>
                      </a:r>
                      <a:endParaRPr lang="zh-TW" altLang="en-US" sz="24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Analysis of Variance</a:t>
                      </a:r>
                      <a:endParaRPr lang="zh-TW" altLang="en-US" sz="24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err="1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Kruskal</a:t>
                      </a:r>
                      <a:r>
                        <a:rPr lang="en-US" altLang="zh-TW" sz="240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-Wallis</a:t>
                      </a:r>
                      <a:r>
                        <a:rPr lang="en-US" altLang="zh-TW" sz="2400" baseline="0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test</a:t>
                      </a:r>
                      <a:endParaRPr lang="zh-TW" altLang="en-US" sz="24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0519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7984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隨堂作業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商數與餘數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1224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2550</TotalTime>
  <Words>569</Words>
  <Application>Microsoft Office PowerPoint</Application>
  <PresentationFormat>寬螢幕</PresentationFormat>
  <Paragraphs>77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8" baseType="lpstr">
      <vt:lpstr>新細明體</vt:lpstr>
      <vt:lpstr>標楷體</vt:lpstr>
      <vt:lpstr>Arial</vt:lpstr>
      <vt:lpstr>Calibri</vt:lpstr>
      <vt:lpstr>Calibri Light</vt:lpstr>
      <vt:lpstr>Times New Roman</vt:lpstr>
      <vt:lpstr>Office 佈景主題</vt:lpstr>
      <vt:lpstr>無母數檢定</vt:lpstr>
      <vt:lpstr>中位數檢定</vt:lpstr>
      <vt:lpstr>符號檢定 (sign test)</vt:lpstr>
      <vt:lpstr>符號檢定 (sign test)</vt:lpstr>
      <vt:lpstr>魏克森符號等級檢定 (Wilcoxon signed-rank test)</vt:lpstr>
      <vt:lpstr>魏克森符號等級檢定 (Wilcoxon signed-rank test)</vt:lpstr>
      <vt:lpstr>魏克森等級和檢定 (Wilcoxon rank sum test)</vt:lpstr>
      <vt:lpstr>魏克森等級和檢定 (Wilcoxon rank sum test)</vt:lpstr>
      <vt:lpstr>克-瓦二氏檢定 (Kruskal-Wallis test)</vt:lpstr>
      <vt:lpstr>Take Home Message</vt:lpstr>
      <vt:lpstr>隨堂作業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R基本介紹及安裝</dc:title>
  <dc:creator>linjuihsiang</dc:creator>
  <cp:lastModifiedBy>linjuihsiang</cp:lastModifiedBy>
  <cp:revision>111</cp:revision>
  <cp:lastPrinted>2019-01-18T15:34:11Z</cp:lastPrinted>
  <dcterms:created xsi:type="dcterms:W3CDTF">2019-01-18T04:58:35Z</dcterms:created>
  <dcterms:modified xsi:type="dcterms:W3CDTF">2019-01-26T01:45:25Z</dcterms:modified>
</cp:coreProperties>
</file>